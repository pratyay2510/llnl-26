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55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0">
                <a:solidFill>
                  <a:srgbClr val="A0AEC0"/>
                </a:solidFill>
                <a:latin typeface="Calibri"/>
              </a:defRPr>
            </a:pPr>
            <a:r>
              <a:t>In-Context Learning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Latent Space Manipulation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926080"/>
            <a:ext cx="2286000" cy="508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00D4AA"/>
                </a:solidFill>
                <a:latin typeface="Calibri"/>
              </a:defRPr>
            </a:pPr>
            <a:r>
              <a:t>Bridging Classical RF Theory with Modern Transformer 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1005840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Pratyay Dutta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rPr dirty="0"/>
              <a:t>University of California, Riverside  |  Lawrence Livermore National Laboratory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124712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8CFF"/>
                </a:solidFill>
                <a:latin typeface="Calibri"/>
              </a:defRPr>
            </a:pPr>
            <a: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QVM-FRE-BI Framework for ICL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Connecting classical relevance feedback to modern transformer attention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Core Insight: ICL ~ Relevance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011680" cy="381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50292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600" b="1">
                <a:solidFill>
                  <a:srgbClr val="008CFF"/>
                </a:solidFill>
                <a:latin typeface="Calibri"/>
              </a:defRPr>
            </a:pPr>
            <a:r>
              <a:rPr dirty="0"/>
              <a:t>QVM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Query Vector Movement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2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rPr dirty="0"/>
              <a:t>Classical (</a:t>
            </a:r>
            <a:r>
              <a:rPr dirty="0" err="1"/>
              <a:t>Rocchio</a:t>
            </a:r>
            <a:r>
              <a:rPr dirty="0"/>
              <a:t>):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q_new</a:t>
            </a:r>
            <a:r>
              <a:rPr dirty="0"/>
              <a:t> = a*</a:t>
            </a:r>
            <a:r>
              <a:rPr dirty="0" err="1"/>
              <a:t>q_old</a:t>
            </a:r>
            <a:endParaRPr dirty="0"/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   + b * mean(D+)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   - g * mean(D-)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2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rPr dirty="0"/>
              <a:t>ICL Attention: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h_new</a:t>
            </a:r>
            <a:r>
              <a:rPr dirty="0"/>
              <a:t> = </a:t>
            </a:r>
            <a:r>
              <a:rPr dirty="0" err="1"/>
              <a:t>h_old</a:t>
            </a:r>
            <a:endParaRPr dirty="0"/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+ Sum attn(QK/sqrt(d)) * V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2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rPr dirty="0"/>
              <a:t>Residual = a*</a:t>
            </a:r>
            <a:r>
              <a:rPr dirty="0" err="1"/>
              <a:t>q_old</a:t>
            </a:r>
            <a:r>
              <a:rPr dirty="0"/>
              <a:t>       [OK]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rPr dirty="0"/>
              <a:t>Attn weights = b*</a:t>
            </a:r>
            <a:r>
              <a:rPr dirty="0" err="1"/>
              <a:t>rel</a:t>
            </a:r>
            <a:r>
              <a:rPr dirty="0"/>
              <a:t>     [OK]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rPr dirty="0"/>
              <a:t>No gamma repulsion      [GAP]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6213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600" b="1">
                <a:solidFill>
                  <a:srgbClr val="7C3AED"/>
                </a:solidFill>
                <a:latin typeface="Calibri"/>
              </a:defRPr>
            </a:pPr>
            <a:r>
              <a:t>FRE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Feature Relevance Estimation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Classical (TPAMI 2005):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w_j = (1/sigma_j)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/ Sum_k(1/sigma_k)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Tight cluster -&gt; high weight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Wide spread -&gt; low weight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In Transformers: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Multi-head attn = subspace FRE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LayerNorm = axis rescaling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Implicit but uncontrolled  [??]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3474720" cy="50292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600" b="1">
                <a:solidFill>
                  <a:srgbClr val="00D4AA"/>
                </a:solidFill>
                <a:latin typeface="Calibri"/>
              </a:defRPr>
            </a:pPr>
            <a:r>
              <a:t>BI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A0AEC0"/>
                </a:solidFill>
                <a:latin typeface="Calibri"/>
              </a:defRPr>
            </a:pPr>
            <a:r>
              <a:t>Bayesian Inference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Classical: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P(rel|x) ~ P(x|rel)*P(rel)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ICL: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P(y|x,C) =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integral P(y|x,g)*P(g|C) dg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Context C infers latent task g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Well-established analogy  [OK]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Pretraining = prior P(g)  [OK]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Identified Gaps in ICL via CBIR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011680" cy="381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Missing Gamma-Term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ICL has NO negative demo repulsion mechanism</a:t>
            </a:r>
            <a:endParaRPr lang="en-US" dirty="0"/>
          </a:p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lang="en-IN" b="1" i="1" dirty="0"/>
              <a:t>Can we include negative demo mechanism to move embeddings farther from incorrect spaces ? Feels like contrastive learning. </a:t>
            </a:r>
            <a:endParaRPr b="1" i="1" dirty="0"/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 g*mean(D-) from Rocchio is absent in 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105156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Implicit FRE Uncontrolled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Transformers may do FRE via attention heads</a:t>
            </a:r>
            <a:endParaRPr lang="en-US" dirty="0"/>
          </a:p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lang="en-IN" b="1" i="1" dirty="0"/>
              <a:t>Can we figure out the movement per axis and see if its actually doing FRE and if yes then how and if no then can we attempt to do it ?</a:t>
            </a:r>
            <a:endParaRPr b="1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6217920" y="28803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Never verified; no classical 1/sigma_j connection made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105156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CFF"/>
                </a:solidFill>
                <a:latin typeface="Calibri"/>
              </a:defRPr>
            </a:pPr>
            <a:r>
              <a:t>Positional Bias Corrupts QVM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Attention conflates position with semantic relevance</a:t>
            </a:r>
            <a:endParaRPr lang="en-US" dirty="0"/>
          </a:p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lang="en-IN" b="1" i="1" dirty="0"/>
              <a:t>Can we check and verify if this holds ?</a:t>
            </a:r>
            <a:endParaRPr b="1" i="1" dirty="0"/>
          </a:p>
        </p:txBody>
      </p:sp>
      <p:sp>
        <p:nvSpPr>
          <p:cNvPr id="17" name="TextBox 16"/>
          <p:cNvSpPr txBox="1"/>
          <p:nvPr/>
        </p:nvSpPr>
        <p:spPr>
          <a:xfrm>
            <a:off x="6217920" y="4206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Recency bias = position-contaminated softmax weights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66360"/>
            <a:ext cx="105156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No Unified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QVM, FRE, BI studied in isolation for ICL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532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Our contribution: first unified lens for ICL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1: Diagnostic 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011680" cy="381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6 modules to expose ICL failure modes through the QVM-FRE 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78308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536192"/>
            <a:ext cx="457200" cy="27432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536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Noise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Gaussian noise in</a:t>
            </a:r>
            <a:br/>
            <a:r>
              <a:t>value vectors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463040"/>
            <a:ext cx="178308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59152" y="1536192"/>
            <a:ext cx="457200" cy="2743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59152" y="1536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Attn Skewing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Permute demo order</a:t>
            </a:r>
            <a:br/>
            <a:r>
              <a:t>-&gt; recency bias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463040"/>
            <a:ext cx="178308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9392" y="1536192"/>
            <a:ext cx="45720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392" y="1536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Label Flipping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Format vs semantics</a:t>
            </a:r>
            <a:br/>
            <a:r>
              <a:t>strength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463040"/>
            <a:ext cx="178308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1536192"/>
            <a:ext cx="457200" cy="274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9632" y="1536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FRE Probing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Per-dim ablation</a:t>
            </a:r>
            <a:br/>
            <a:r>
              <a:t>-&gt; FRE quality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463040"/>
            <a:ext cx="178308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19872" y="1536192"/>
            <a:ext cx="457200" cy="2743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9872" y="1536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2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Gamma-Term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2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Negative demos +</a:t>
            </a:r>
            <a:br/>
            <a:r>
              <a:t>synthetic repulsion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1463040"/>
            <a:ext cx="178308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40112" y="1536192"/>
            <a:ext cx="457200" cy="274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40112" y="1536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0112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Task Vectors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24688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Extract &amp; analyze</a:t>
            </a:r>
            <a:br/>
            <a:r>
              <a:t>task vector geometry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97680"/>
            <a:ext cx="1133856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43484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00D4AA"/>
                </a:solidFill>
                <a:latin typeface="Calibri"/>
              </a:defRPr>
            </a:pPr>
            <a:r>
              <a:rPr dirty="0"/>
              <a:t>Key Hypotheses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H1: Negative demos cause query vector to move AWAY from incorrect class centroids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H2: Optimal gamma* exists that maximizes ICL accuracy (task-dependent)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H3: Gamma-term improvement is largest for ambiguous examples near decision boundaries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2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rPr dirty="0"/>
              <a:t>Convergence -&gt; Cross-module analysis -&gt; Unified sensitivity matrix -&gt; Problem formulation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124712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C3AED"/>
                </a:solidFill>
                <a:latin typeface="Calibri"/>
              </a:defRPr>
            </a:pPr>
            <a: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LLMs Are Invertible -- What It Means for ICL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Nikolaou, Mencattini et al. (ICLR 2026) -- Injectivity as a tool for our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Result: Transformers Are Injective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011680" cy="381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0352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7C3AED"/>
                </a:solidFill>
                <a:latin typeface="Calibri"/>
              </a:defRPr>
            </a:pPr>
            <a:r>
              <a:t>Core Theorem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 != s'  =&gt;  r(s; theta) != r(s'; theta)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Different prompts -&gt; different last-token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representations, with probability 1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300" b="0">
                <a:solidFill>
                  <a:srgbClr val="00D4AA"/>
                </a:solidFill>
                <a:latin typeface="Calibri"/>
              </a:defRPr>
            </a:pPr>
            <a:r>
              <a:t>Holds at initialization AND preserved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00D4AA"/>
                </a:solidFill>
                <a:latin typeface="Calibri"/>
              </a:defRPr>
            </a:pPr>
            <a:r>
              <a:t>through training (any finite T GD steps)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8CFF"/>
                </a:solidFill>
                <a:latin typeface="Calibri"/>
              </a:defRPr>
            </a:pPr>
            <a:r>
              <a:t>Why It Holds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Transformers are real-analytic functions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(composition of analytic components)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Collision set has Lebesgue measure zero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h(theta) = ||r(s;theta) - r(s';theta)||^2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GD preserves absolute continuity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-&gt; can't move params into collision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11064240" cy="2468880"/>
          </a:xfrm>
          <a:prstGeom prst="rect">
            <a:avLst/>
          </a:prstGeom>
          <a:solidFill>
            <a:srgbClr val="121A35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SIPIT: Constructive Inversion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Sequential Inverse Prompt via Iterative Updates -- recovers exact input from hidden states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Exploits causal structure: h_t depends only on prefix &lt;s1,...,s_{t-1}&gt; and current token s_t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At each step: cycle through vocab candidates until unique match found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100% accuracy on GPT-2, Mistral-7B, LLaMA-3.1-8B  |  &lt;0.22% vocab explored on average</a:t>
            </a:r>
          </a:p>
          <a:p>
            <a:pPr algn="l">
              <a:spcAft>
                <a:spcPts val="200"/>
              </a:spcAft>
              <a:defRPr sz="3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Implication: Hidden states are NOT abstractions -- they ARE the prompt in disguise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This Means for Our ICL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011680" cy="381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16213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Validates Our Framework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1. Injectivity = Lossless QVM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If r(s) preserves ALL input info, then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attention updates are information-preserving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query movements -- exactly what QVM assumes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2. Strengthens FRE Probing (M4)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Per-dimension ablation is valid because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each dimension carries unique, non-redundant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information (no collapse/aliasing)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3. Task Vectors Are Meaningful (M6)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Injectivity guarantees task vectors in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hidden states faithfully encode the full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   context -- probing them is well-founded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solidFill>
            <a:srgbClr val="16213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75488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7C3AED"/>
                </a:solidFill>
                <a:latin typeface="Calibri"/>
              </a:defRPr>
            </a:pPr>
            <a:r>
              <a:rPr dirty="0"/>
              <a:t>Actionable Ideas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2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rPr dirty="0"/>
              <a:t>A. SIPIT as Ground-Truth Oracle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rPr dirty="0"/>
              <a:t>   Use SIPIT to verify that our latent-space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rPr dirty="0"/>
              <a:t>   interventions (gamma injection, FRE weights)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rPr dirty="0"/>
              <a:t>   don't destroy input fidelity</a:t>
            </a:r>
            <a:r>
              <a:rPr lang="en-US" dirty="0"/>
              <a:t>. </a:t>
            </a:r>
            <a:r>
              <a:rPr lang="en-US" b="1" i="1" dirty="0"/>
              <a:t>Can we leverage SIPIT to see what our contextual prompts turn into in the latent space ?</a:t>
            </a:r>
            <a:endParaRPr b="1" i="1" dirty="0"/>
          </a:p>
          <a:p>
            <a:pPr algn="l">
              <a:spcAft>
                <a:spcPts val="200"/>
              </a:spcAft>
              <a:defRPr sz="500" b="0">
                <a:solidFill>
                  <a:srgbClr val="A0AEC0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2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rPr dirty="0"/>
              <a:t>B. Inversion-Based Sensitivity Analysis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rPr dirty="0"/>
              <a:t>   </a:t>
            </a:r>
            <a:r>
              <a:rPr b="1" i="1" dirty="0"/>
              <a:t>Perturb hidden states (our M1 noise injection)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rPr b="1" i="1" dirty="0"/>
              <a:t>   then run SIPIT to see WHICH tokens are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rPr b="1" i="1" dirty="0"/>
              <a:t>   affected -- spatial sensitivity map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A0AEC0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2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rPr dirty="0"/>
              <a:t>C. Collision Distance as ICL Metric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rPr dirty="0"/>
              <a:t>   Use min pairwise L2 between demo hidden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rPr dirty="0"/>
              <a:t>   states as a measure of demo diversity --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rPr dirty="0"/>
              <a:t>   connects to demo selection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Tentative Plan: Moving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011680" cy="381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4884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8CFF"/>
                </a:solidFill>
                <a:latin typeface="Calibri"/>
              </a:defRPr>
            </a:pPr>
            <a:r>
              <a:rPr lang="en-US" dirty="0"/>
              <a:t>P1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Model hooks setup</a:t>
            </a:r>
            <a:br/>
            <a:r>
              <a:t>Baseline ICL evals</a:t>
            </a:r>
            <a:br/>
            <a:r>
              <a:t>Activation extraction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188720"/>
            <a:ext cx="214884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128016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Calibri"/>
              </a:defRPr>
            </a:pPr>
            <a:r>
              <a:rPr lang="en-US" dirty="0"/>
              <a:t>P2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265176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FRE + Gamma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0116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M4: FRE probing</a:t>
            </a:r>
            <a:br/>
            <a:r>
              <a:t>M5: Gamma injection</a:t>
            </a:r>
            <a:br/>
            <a:r>
              <a:t>Core experiments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188720"/>
            <a:ext cx="214884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0" y="128016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  <a:latin typeface="Calibri"/>
              </a:defRPr>
            </a:pPr>
            <a:r>
              <a:rPr lang="en-US" dirty="0"/>
              <a:t>P3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98348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Diagnostics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0116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M1-M3: Perturbations</a:t>
            </a:r>
            <a:br/>
            <a:r>
              <a:t>M6: Task vectors</a:t>
            </a:r>
            <a:br/>
            <a:r>
              <a:t>Cross-module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188720"/>
            <a:ext cx="214884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128016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rPr lang="en-US" dirty="0"/>
              <a:t>P4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31520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Invertibility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0116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SIPIT validation</a:t>
            </a:r>
            <a:br/>
            <a:r>
              <a:t>Sensitivity maps</a:t>
            </a:r>
            <a:br/>
            <a:r>
              <a:t>Collision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188720"/>
            <a:ext cx="214884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20" y="128016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rPr lang="en-US" dirty="0"/>
              <a:t>P5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964692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01168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Problem formulation</a:t>
            </a:r>
            <a:br>
              <a:rPr dirty="0"/>
            </a:br>
            <a:r>
              <a:rPr lang="en-US" dirty="0"/>
              <a:t>and solution</a:t>
            </a: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274320" y="3840480"/>
            <a:ext cx="11612880" cy="381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4114800"/>
            <a:ext cx="1161288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6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Phase 2 Directions (Evidence-Dependent)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l">
              <a:spcAft>
                <a:spcPts val="200"/>
              </a:spcAft>
              <a:defRPr sz="1300" b="0">
                <a:solidFill>
                  <a:srgbClr val="7C3AED"/>
                </a:solidFill>
                <a:latin typeface="Calibri"/>
              </a:defRPr>
            </a:pPr>
            <a:r>
              <a:t>IF weak FRE        -&gt;  Inject explicit FRE via learned axis weighting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IF gamma helps     -&gt;  Contrastive attention / repulsive residuals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008CFF"/>
                </a:solidFill>
                <a:latin typeface="Calibri"/>
              </a:defRPr>
            </a:pPr>
            <a:r>
              <a:t>IF recency bias    -&gt;  Positional debiasing with Rocchio-inspired weights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00D4AA"/>
                </a:solidFill>
                <a:latin typeface="Calibri"/>
              </a:defRPr>
            </a:pPr>
            <a:r>
              <a:t>IF unstable vectors -&gt;  Task vector regularization / demo-agnostic encoding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IF invertibility useful -&gt; SIPIT-guided latent interventions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8CFF"/>
          </a:solidFill>
          <a:ln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834640"/>
            <a:ext cx="2103120" cy="508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108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0AEC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Pratyay Dutta</a:t>
            </a:r>
          </a:p>
          <a:p>
            <a:pPr algn="ctr">
              <a:spcAft>
                <a:spcPts val="200"/>
              </a:spcAft>
              <a:defRPr sz="1600" b="0">
                <a:solidFill>
                  <a:srgbClr val="00D4AA"/>
                </a:solidFill>
                <a:latin typeface="Calibri"/>
              </a:defRPr>
            </a:pPr>
            <a:r>
              <a:t>pdutta@ucr.edu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0AEC0"/>
                </a:solidFill>
                <a:latin typeface="Calibri"/>
              </a:defRPr>
            </a:pPr>
            <a:endParaRPr/>
          </a:p>
          <a:p>
            <a:pPr algn="ctr">
              <a:spcAft>
                <a:spcPts val="20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UC Riverside  |  Lawrence Livermore National Laboratory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2967</TotalTime>
  <Words>1092</Words>
  <Application>Microsoft Office PowerPoint</Application>
  <PresentationFormat>Widescreen</PresentationFormat>
  <Paragraphs>189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Pratyay Dutta</cp:lastModifiedBy>
  <cp:revision>4</cp:revision>
  <dcterms:created xsi:type="dcterms:W3CDTF">2013-01-27T09:14:16Z</dcterms:created>
  <dcterms:modified xsi:type="dcterms:W3CDTF">2026-06-17T19:28:25Z</dcterms:modified>
  <cp:category/>
</cp:coreProperties>
</file>