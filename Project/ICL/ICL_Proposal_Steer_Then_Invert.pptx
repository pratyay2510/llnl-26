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101498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defRPr sz="5200" b="1" i="0">
                <a:solidFill>
                  <a:srgbClr val="FFFFFF"/>
                </a:solidFill>
                <a:latin typeface="Calibri"/>
              </a:defRPr>
            </a:pPr>
            <a:r>
              <a:t>Steer, Then Invert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2331720"/>
            <a:ext cx="2743200" cy="508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14600"/>
            <a:ext cx="1024128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defRPr sz="2300" b="0" i="0">
                <a:solidFill>
                  <a:srgbClr val="22D3EE"/>
                </a:solidFill>
                <a:latin typeface="Calibri"/>
              </a:defRPr>
            </a:pPr>
            <a:r>
              <a:t>Auditable &amp; On-Manifold Control of In-Context Reasoning</a:t>
            </a:r>
            <a:br/>
            <a:r>
              <a:t>via Invertible Latent Steering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114800"/>
            <a:ext cx="10241280" cy="1828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Pratyay Dutta</a:t>
            </a:r>
          </a:p>
          <a:p>
            <a:pPr algn="l">
              <a:spcAft>
                <a:spcPts val="200"/>
              </a:spcAft>
              <a:defRPr sz="1500" b="0">
                <a:solidFill>
                  <a:srgbClr val="A8B4C8"/>
                </a:solidFill>
                <a:latin typeface="Calibri"/>
              </a:defRPr>
            </a:pPr>
            <a:r>
              <a:t>UC Riverside   |   Lawrence Livermore National Laboratory</a:t>
            </a:r>
          </a:p>
          <a:p>
            <a:pPr algn="l">
              <a:spcAft>
                <a:spcPts val="200"/>
              </a:spcAft>
              <a:defRPr sz="700" b="0">
                <a:solidFill>
                  <a:srgbClr val="A8B4C8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1600" b="0">
                <a:solidFill>
                  <a:srgbClr val="3B82F6"/>
                </a:solidFill>
                <a:latin typeface="Calibri"/>
              </a:defRPr>
            </a:pPr>
            <a:r>
              <a:t>Advisor: Prof. Bir Bhanu        Mentor Meeting  ·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The Idea in One 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896112"/>
            <a:ext cx="1828800" cy="4445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0927080" cy="1554480"/>
          </a:xfrm>
          <a:prstGeom prst="roundRect">
            <a:avLst/>
          </a:prstGeom>
          <a:solidFill>
            <a:srgbClr val="121A35"/>
          </a:solidFill>
          <a:ln w="222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10424160" cy="13716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20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Control a model's reasoning by moving its latent state — then INVERT the moved</a:t>
            </a:r>
          </a:p>
          <a:p>
            <a:pPr algn="l">
              <a:spcAft>
                <a:spcPts val="20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state to read back, in plain text, exactly what prompt that reasoning corresponds 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4612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defRPr sz="1800" b="1" i="0">
                <a:solidFill>
                  <a:srgbClr val="22D3EE"/>
                </a:solidFill>
                <a:latin typeface="Calibri"/>
              </a:defRPr>
            </a:pPr>
            <a:r>
              <a:t>Why this matters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3520440" cy="2377440"/>
          </a:xfrm>
          <a:prstGeom prst="roundRect">
            <a:avLst/>
          </a:prstGeom>
          <a:solidFill>
            <a:srgbClr val="16213E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749039"/>
            <a:ext cx="3520440" cy="635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977639"/>
            <a:ext cx="31089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defRPr sz="1800" b="1" i="0">
                <a:solidFill>
                  <a:srgbClr val="10B981"/>
                </a:solidFill>
                <a:latin typeface="Calibri"/>
              </a:defRPr>
            </a:pPr>
            <a:r>
              <a:t>Not the output.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526280"/>
            <a:ext cx="310896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defRPr sz="1450" b="0" i="0">
                <a:solidFill>
                  <a:srgbClr val="A8B4C8"/>
                </a:solidFill>
                <a:latin typeface="Calibri"/>
              </a:defRPr>
            </a:pPr>
            <a:r>
              <a:t>We intervene on the reasoning state itself, not on the prompt or the final answer.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3749039"/>
            <a:ext cx="3520440" cy="2377440"/>
          </a:xfrm>
          <a:prstGeom prst="roundRect">
            <a:avLst/>
          </a:prstGeom>
          <a:solidFill>
            <a:srgbClr val="16213E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1688" y="3749039"/>
            <a:ext cx="3520440" cy="635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3977639"/>
            <a:ext cx="31089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defRPr sz="1800" b="1" i="0">
                <a:solidFill>
                  <a:srgbClr val="F59E0B"/>
                </a:solidFill>
                <a:latin typeface="Calibri"/>
              </a:defRPr>
            </a:pPr>
            <a:r>
              <a:t>Make it legible.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4526280"/>
            <a:ext cx="310896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defRPr sz="1450" b="0" i="0">
                <a:solidFill>
                  <a:srgbClr val="A8B4C8"/>
                </a:solidFill>
                <a:latin typeface="Calibri"/>
              </a:defRPr>
            </a:pPr>
            <a:r>
              <a:t>Latent steering today is a black box — you never know what prompt your edit means.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3296" y="3749039"/>
            <a:ext cx="3520440" cy="2377440"/>
          </a:xfrm>
          <a:prstGeom prst="roundRect">
            <a:avLst/>
          </a:prstGeom>
          <a:solidFill>
            <a:srgbClr val="16213E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83296" y="3749039"/>
            <a:ext cx="3520440" cy="635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11896" y="3977639"/>
            <a:ext cx="31089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defRPr sz="1800" b="1" i="0">
                <a:solidFill>
                  <a:srgbClr val="3B82F6"/>
                </a:solidFill>
                <a:latin typeface="Calibri"/>
              </a:defRPr>
            </a:pPr>
            <a:r>
              <a:t>Make it safe.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6" y="4526280"/>
            <a:ext cx="310896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defRPr sz="1450" b="0" i="0">
                <a:solidFill>
                  <a:srgbClr val="A8B4C8"/>
                </a:solidFill>
                <a:latin typeface="Calibri"/>
              </a:defRPr>
            </a:pPr>
            <a:r>
              <a:t>We measure how far an edit pushes the model OFF the manifold of real prompts.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Three Results We Stand 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896112"/>
            <a:ext cx="1828800" cy="444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969264"/>
            <a:ext cx="10789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defRPr sz="1350" b="0" i="0">
                <a:solidFill>
                  <a:srgbClr val="A8B4C8"/>
                </a:solidFill>
                <a:latin typeface="Calibri"/>
              </a:defRPr>
            </a:pPr>
            <a:r>
              <a:t>Each is strong alone — nobody has combined them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3566160" cy="4754880"/>
          </a:xfrm>
          <a:prstGeom prst="roundRect">
            <a:avLst/>
          </a:prstGeom>
          <a:solidFill>
            <a:srgbClr val="16213E"/>
          </a:solidFill>
          <a:ln w="222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566160" cy="96012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17904"/>
            <a:ext cx="3200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defRPr sz="1900" b="1" i="0">
                <a:solidFill>
                  <a:srgbClr val="FFFFFF"/>
                </a:solidFill>
                <a:latin typeface="Calibri"/>
              </a:defRPr>
            </a:pPr>
            <a:r>
              <a:t>In-Context Vectors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65960"/>
            <a:ext cx="3200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defRPr sz="1200" b="0" i="0">
                <a:solidFill>
                  <a:srgbClr val="E6EEFF"/>
                </a:solidFill>
                <a:latin typeface="Calibri"/>
              </a:defRPr>
            </a:pPr>
            <a:r>
              <a:t>Liu et al. · ICML 2024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97480"/>
            <a:ext cx="3063240" cy="3291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  <a:defRPr sz="1450" b="0">
                <a:solidFill>
                  <a:srgbClr val="FFFFFF"/>
                </a:solidFill>
                <a:latin typeface="Calibri"/>
              </a:defRPr>
            </a:pPr>
            <a:r>
              <a:t>ICL = shifting latent states</a:t>
            </a:r>
          </a:p>
          <a:p>
            <a:pPr algn="l">
              <a:spcAft>
                <a:spcPts val="200"/>
              </a:spcAft>
              <a:defRPr sz="1450" b="0">
                <a:solidFill>
                  <a:srgbClr val="FFFFFF"/>
                </a:solidFill>
                <a:latin typeface="Calibri"/>
              </a:defRPr>
            </a:pPr>
            <a:r>
              <a:t>A single steering vector</a:t>
            </a:r>
          </a:p>
          <a:p>
            <a:pPr algn="l">
              <a:spcAft>
                <a:spcPts val="200"/>
              </a:spcAft>
              <a:defRPr sz="1450" b="0">
                <a:solidFill>
                  <a:srgbClr val="A8B4C8"/>
                </a:solidFill>
                <a:latin typeface="Calibri"/>
              </a:defRPr>
            </a:pPr>
            <a:r>
              <a:t>replaces demonstrations</a:t>
            </a:r>
          </a:p>
          <a:p>
            <a:pPr algn="l">
              <a:spcAft>
                <a:spcPts val="200"/>
              </a:spcAft>
              <a:defRPr sz="145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1450" b="1">
                <a:solidFill>
                  <a:srgbClr val="A8B4C8"/>
                </a:solidFill>
                <a:latin typeface="Calibri"/>
              </a:defRPr>
            </a:pPr>
            <a:r>
              <a:t>Gap: opaque, uncontrolled,</a:t>
            </a:r>
          </a:p>
          <a:p>
            <a:pPr algn="l">
              <a:spcAft>
                <a:spcPts val="200"/>
              </a:spcAft>
              <a:defRPr sz="1450" b="0">
                <a:solidFill>
                  <a:srgbClr val="A8B4C8"/>
                </a:solidFill>
                <a:latin typeface="Calibri"/>
              </a:defRPr>
            </a:pPr>
            <a:r>
              <a:t>may leave the manifold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417320"/>
            <a:ext cx="3566160" cy="4754880"/>
          </a:xfrm>
          <a:prstGeom prst="roundRect">
            <a:avLst/>
          </a:prstGeom>
          <a:solidFill>
            <a:srgbClr val="16213E"/>
          </a:solidFill>
          <a:ln w="2222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97680" y="1417320"/>
            <a:ext cx="3566160" cy="96012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517904"/>
            <a:ext cx="3200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defRPr sz="1900" b="1" i="0">
                <a:solidFill>
                  <a:srgbClr val="FFFFFF"/>
                </a:solidFill>
                <a:latin typeface="Calibri"/>
              </a:defRPr>
            </a:pPr>
            <a:r>
              <a:t>Injectivity / SIPIT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1965960"/>
            <a:ext cx="3200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defRPr sz="1200" b="0" i="0">
                <a:solidFill>
                  <a:srgbClr val="E6EEFF"/>
                </a:solidFill>
                <a:latin typeface="Calibri"/>
              </a:defRPr>
            </a:pPr>
            <a:r>
              <a:t>Nikolaou et al. · ICLR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697480"/>
            <a:ext cx="3063240" cy="3291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  <a:defRPr sz="1450" b="0">
                <a:solidFill>
                  <a:srgbClr val="FFFFFF"/>
                </a:solidFill>
                <a:latin typeface="Calibri"/>
              </a:defRPr>
            </a:pPr>
            <a:r>
              <a:t>prompt ↔ latent is a</a:t>
            </a:r>
          </a:p>
          <a:p>
            <a:pPr algn="l">
              <a:spcAft>
                <a:spcPts val="200"/>
              </a:spcAft>
              <a:defRPr sz="1450" b="0">
                <a:solidFill>
                  <a:srgbClr val="FFFFFF"/>
                </a:solidFill>
                <a:latin typeface="Calibri"/>
              </a:defRPr>
            </a:pPr>
            <a:r>
              <a:t>BIJECTION (a.s.)</a:t>
            </a:r>
          </a:p>
          <a:p>
            <a:pPr algn="l">
              <a:spcAft>
                <a:spcPts val="200"/>
              </a:spcAft>
              <a:defRPr sz="1450" b="0">
                <a:solidFill>
                  <a:srgbClr val="FFFFFF"/>
                </a:solidFill>
                <a:latin typeface="Calibri"/>
              </a:defRPr>
            </a:pPr>
            <a:r>
              <a:t>SIPIT inverts it exactly,</a:t>
            </a:r>
          </a:p>
          <a:p>
            <a:pPr algn="l">
              <a:spcAft>
                <a:spcPts val="200"/>
              </a:spcAft>
              <a:defRPr sz="1450" b="0">
                <a:solidFill>
                  <a:srgbClr val="FFFFFF"/>
                </a:solidFill>
                <a:latin typeface="Calibri"/>
              </a:defRPr>
            </a:pPr>
            <a:r>
              <a:t>linear time</a:t>
            </a:r>
          </a:p>
          <a:p>
            <a:pPr algn="l">
              <a:spcAft>
                <a:spcPts val="200"/>
              </a:spcAft>
              <a:defRPr sz="145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1450" b="1">
                <a:solidFill>
                  <a:srgbClr val="A8B4C8"/>
                </a:solidFill>
                <a:latin typeface="Calibri"/>
              </a:defRPr>
            </a:pPr>
            <a:r>
              <a:t>Gap: only ever inverts</a:t>
            </a:r>
          </a:p>
          <a:p>
            <a:pPr algn="l">
              <a:spcAft>
                <a:spcPts val="200"/>
              </a:spcAft>
              <a:defRPr sz="1450" b="0">
                <a:solidFill>
                  <a:srgbClr val="A8B4C8"/>
                </a:solidFill>
                <a:latin typeface="Calibri"/>
              </a:defRPr>
            </a:pPr>
            <a:r>
              <a:t>NATURAL states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417320"/>
            <a:ext cx="3566160" cy="4754880"/>
          </a:xfrm>
          <a:prstGeom prst="roundRect">
            <a:avLst/>
          </a:prstGeom>
          <a:solidFill>
            <a:srgbClr val="16213E"/>
          </a:solidFill>
          <a:ln w="222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92440" y="1417320"/>
            <a:ext cx="3566160" cy="960120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1517904"/>
            <a:ext cx="3200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defRPr sz="1900" b="1" i="0">
                <a:solidFill>
                  <a:srgbClr val="FFFFFF"/>
                </a:solidFill>
                <a:latin typeface="Calibri"/>
              </a:defRPr>
            </a:pPr>
            <a:r>
              <a:t>QVM / FRE  (Rocchio)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1965960"/>
            <a:ext cx="3200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defRPr sz="1200" b="0" i="0">
                <a:solidFill>
                  <a:srgbClr val="E6EEFF"/>
                </a:solidFill>
                <a:latin typeface="Calibri"/>
              </a:defRPr>
            </a:pPr>
            <a:r>
              <a:t>Yin, Bhanu et al. · TPAMI 2005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697480"/>
            <a:ext cx="3063240" cy="3291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  <a:defRPr sz="1450" b="0">
                <a:solidFill>
                  <a:srgbClr val="FFFFFF"/>
                </a:solidFill>
                <a:latin typeface="Calibri"/>
              </a:defRPr>
            </a:pPr>
            <a:r>
              <a:t>Move toward positives,</a:t>
            </a:r>
          </a:p>
          <a:p>
            <a:pPr algn="l">
              <a:spcAft>
                <a:spcPts val="200"/>
              </a:spcAft>
              <a:defRPr sz="1450" b="0">
                <a:solidFill>
                  <a:srgbClr val="FFFFFF"/>
                </a:solidFill>
                <a:latin typeface="Calibri"/>
              </a:defRPr>
            </a:pPr>
            <a:r>
              <a:t>AWAY from negatives (γ)</a:t>
            </a:r>
          </a:p>
          <a:p>
            <a:pPr algn="l">
              <a:spcAft>
                <a:spcPts val="200"/>
              </a:spcAft>
              <a:defRPr sz="1450" b="0">
                <a:solidFill>
                  <a:srgbClr val="FFFFFF"/>
                </a:solidFill>
                <a:latin typeface="Calibri"/>
              </a:defRPr>
            </a:pPr>
            <a:r>
              <a:t>Per-axis FRE weighting</a:t>
            </a:r>
          </a:p>
          <a:p>
            <a:pPr algn="l">
              <a:spcAft>
                <a:spcPts val="200"/>
              </a:spcAft>
              <a:defRPr sz="145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1450" b="1">
                <a:solidFill>
                  <a:srgbClr val="A8B4C8"/>
                </a:solidFill>
                <a:latin typeface="Calibri"/>
              </a:defRPr>
            </a:pPr>
            <a:r>
              <a:t>Gap: classical IR — never</a:t>
            </a:r>
          </a:p>
          <a:p>
            <a:pPr algn="l">
              <a:spcAft>
                <a:spcPts val="200"/>
              </a:spcAft>
              <a:defRPr sz="1450" b="0">
                <a:solidFill>
                  <a:srgbClr val="A8B4C8"/>
                </a:solidFill>
                <a:latin typeface="Calibri"/>
              </a:defRPr>
            </a:pPr>
            <a:r>
              <a:t>linked to LLM latents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The Open Problem Nobody Has Closed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896112"/>
            <a:ext cx="1828800" cy="4445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27080" cy="1234440"/>
          </a:xfrm>
          <a:prstGeom prst="roundRect">
            <a:avLst/>
          </a:prstGeom>
          <a:solidFill>
            <a:srgbClr val="121A35"/>
          </a:solidFill>
          <a:ln w="1587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81328"/>
            <a:ext cx="10424160" cy="10058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200"/>
              </a:spcAft>
              <a:defRPr sz="1900" b="1">
                <a:solidFill>
                  <a:srgbClr val="FFFFFF"/>
                </a:solidFill>
                <a:latin typeface="Calibri"/>
              </a:defRPr>
            </a:pPr>
            <a:r>
              <a:t>Steering moves you in latent space — but it is a one-way street.</a:t>
            </a:r>
          </a:p>
          <a:p>
            <a:pPr algn="l">
              <a:spcAft>
                <a:spcPts val="200"/>
              </a:spcAft>
              <a:defRPr sz="1600" b="0">
                <a:solidFill>
                  <a:srgbClr val="A8B4C8"/>
                </a:solidFill>
                <a:latin typeface="Calibri"/>
              </a:defRPr>
            </a:pPr>
            <a:r>
              <a:t>You cannot say what prompt the edit means, nor whether any real prompt could produce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10927080" cy="1005840"/>
          </a:xfrm>
          <a:prstGeom prst="roundRect">
            <a:avLst/>
          </a:prstGeom>
          <a:solidFill>
            <a:srgbClr val="16213E"/>
          </a:solidFill>
          <a:ln w="1587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880360"/>
            <a:ext cx="76200" cy="100584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999232"/>
            <a:ext cx="292608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defRPr sz="1700" b="1" i="0">
                <a:solidFill>
                  <a:srgbClr val="EF4444"/>
                </a:solidFill>
                <a:latin typeface="Calibri"/>
              </a:defRPr>
            </a:pPr>
            <a:r>
              <a:t>Missing γ-term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999232"/>
            <a:ext cx="7498079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defRPr sz="1500" b="0" i="0">
                <a:solidFill>
                  <a:srgbClr val="FFFFFF"/>
                </a:solidFill>
                <a:latin typeface="Calibri"/>
              </a:defRPr>
            </a:pPr>
            <a:r>
              <a:t>ICL attention is a convex mix over context — it can attract to positives but cannot REPEL from negatives.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023360"/>
            <a:ext cx="10927080" cy="1005840"/>
          </a:xfrm>
          <a:prstGeom prst="roundRect">
            <a:avLst/>
          </a:prstGeom>
          <a:solidFill>
            <a:srgbClr val="16213E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023360"/>
            <a:ext cx="76200" cy="10058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142232"/>
            <a:ext cx="292608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defRPr sz="1700" b="1" i="0">
                <a:solidFill>
                  <a:srgbClr val="F59E0B"/>
                </a:solidFill>
                <a:latin typeface="Calibri"/>
              </a:defRPr>
            </a:pPr>
            <a:r>
              <a:t>Unaccountable edits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4142232"/>
            <a:ext cx="7498079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defRPr sz="1500" b="0" i="0">
                <a:solidFill>
                  <a:srgbClr val="FFFFFF"/>
                </a:solidFill>
                <a:latin typeface="Calibri"/>
              </a:defRPr>
            </a:pPr>
            <a:r>
              <a:t>A steering vector has no known prompt. For a safety lab, an uninspectable latent edit is a non-starter.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166360"/>
            <a:ext cx="10927080" cy="1005840"/>
          </a:xfrm>
          <a:prstGeom prst="roundRect">
            <a:avLst/>
          </a:prstGeom>
          <a:solidFill>
            <a:srgbClr val="16213E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5166360"/>
            <a:ext cx="76200" cy="10058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285232"/>
            <a:ext cx="292608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defRPr sz="1700" b="1" i="0">
                <a:solidFill>
                  <a:srgbClr val="3B82F6"/>
                </a:solidFill>
                <a:latin typeface="Calibri"/>
              </a:defRPr>
            </a:pPr>
            <a:r>
              <a:t>Off-manifold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5285232"/>
            <a:ext cx="7498079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defRPr sz="1500" b="0" i="0">
                <a:solidFill>
                  <a:srgbClr val="FFFFFF"/>
                </a:solidFill>
                <a:latin typeface="Calibri"/>
              </a:defRPr>
            </a:pPr>
            <a:r>
              <a:t>Nothing guarantees the steered state is reachable by ANY prompt. No metric exists for 'how off-manifold'.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defRPr sz="1450" b="1" i="0">
                <a:solidFill>
                  <a:srgbClr val="22D3EE"/>
                </a:solidFill>
                <a:latin typeface="Calibri"/>
              </a:defRPr>
            </a:pPr>
            <a:r>
              <a:t>Injectivity (SIPIT) solves #2 and #3 — and supplies the inverse map. That is our opening.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Core Mechanism:  Steer → Invert → Verify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896112"/>
            <a:ext cx="1828800" cy="4445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969264"/>
            <a:ext cx="10789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defRPr sz="1350" b="0" i="0">
                <a:solidFill>
                  <a:srgbClr val="A8B4C8"/>
                </a:solidFill>
                <a:latin typeface="Calibri"/>
              </a:defRPr>
            </a:pPr>
            <a:r>
              <a:t>The first loop that inverts a *manipulated* hidden state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91640"/>
            <a:ext cx="2926080" cy="123444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56232"/>
            <a:ext cx="29260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Prompt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50008"/>
            <a:ext cx="29260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defRPr sz="1300" b="0" i="0">
                <a:solidFill>
                  <a:srgbClr val="3B82F6"/>
                </a:solidFill>
                <a:latin typeface="Calibri"/>
              </a:defRPr>
            </a:pPr>
            <a:r>
              <a:t>demonstrations + query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58200" y="1691640"/>
            <a:ext cx="2926080" cy="123444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200" y="1856232"/>
            <a:ext cx="29260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Latent  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2350008"/>
            <a:ext cx="29260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defRPr sz="1300" b="0" i="0">
                <a:solidFill>
                  <a:srgbClr val="10B981"/>
                </a:solidFill>
                <a:latin typeface="Calibri"/>
              </a:defRPr>
            </a:pPr>
            <a:r>
              <a:t>ICL ≈ a gradient step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58200" y="4160520"/>
            <a:ext cx="2926080" cy="123444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4325112"/>
            <a:ext cx="29260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Steered  z = h + λv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4818888"/>
            <a:ext cx="29260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defRPr sz="1300" b="0" i="0">
                <a:solidFill>
                  <a:srgbClr val="F59E0B"/>
                </a:solidFill>
                <a:latin typeface="Calibri"/>
              </a:defRPr>
            </a:pPr>
            <a:r>
              <a:t>v = +positives − γ·negatives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160520"/>
            <a:ext cx="2926080" cy="123444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325112"/>
            <a:ext cx="29260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Recovered prompt  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818888"/>
            <a:ext cx="29260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defRPr sz="1300" b="0" i="0">
                <a:solidFill>
                  <a:srgbClr val="8B5CF6"/>
                </a:solidFill>
                <a:latin typeface="Calibri"/>
              </a:defRPr>
            </a:pPr>
            <a:r>
              <a:t>SIPIT(z) — read it aloud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886200" y="2057400"/>
            <a:ext cx="4434840" cy="502920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86200" y="1627632"/>
            <a:ext cx="44348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defRPr sz="1300" b="1" i="0">
                <a:solidFill>
                  <a:srgbClr val="10B981"/>
                </a:solidFill>
                <a:latin typeface="Calibri"/>
              </a:defRPr>
            </a:pPr>
            <a:r>
              <a:t>forward pass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9601200" y="2971800"/>
            <a:ext cx="548640" cy="1143000"/>
          </a:xfrm>
          <a:prstGeom prst="down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0" y="3200400"/>
            <a:ext cx="10972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defRPr sz="1300" b="1" i="0">
                <a:solidFill>
                  <a:srgbClr val="F59E0B"/>
                </a:solidFill>
                <a:latin typeface="Calibri"/>
              </a:defRPr>
            </a:pPr>
            <a:r>
              <a:t>steer</a:t>
            </a:r>
          </a:p>
        </p:txBody>
      </p:sp>
      <p:sp>
        <p:nvSpPr>
          <p:cNvPr id="23" name="Left Arrow 22"/>
          <p:cNvSpPr/>
          <p:nvPr/>
        </p:nvSpPr>
        <p:spPr>
          <a:xfrm>
            <a:off x="3886200" y="4526280"/>
            <a:ext cx="4434840" cy="502920"/>
          </a:xfrm>
          <a:prstGeom prst="leftArrow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86200" y="5029200"/>
            <a:ext cx="44348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defRPr sz="1300" b="1" i="0">
                <a:solidFill>
                  <a:srgbClr val="8B5CF6"/>
                </a:solidFill>
                <a:latin typeface="Calibri"/>
              </a:defRPr>
            </a:pPr>
            <a:r>
              <a:t>SIPIT  (exact inverse)</a:t>
            </a:r>
          </a:p>
        </p:txBody>
      </p:sp>
      <p:sp>
        <p:nvSpPr>
          <p:cNvPr id="25" name="Up Arrow 24"/>
          <p:cNvSpPr/>
          <p:nvPr/>
        </p:nvSpPr>
        <p:spPr>
          <a:xfrm>
            <a:off x="2011680" y="2971800"/>
            <a:ext cx="548640" cy="1143000"/>
          </a:xfrm>
          <a:prstGeom prst="upArrow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3200400"/>
            <a:ext cx="18288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defRPr sz="1300" b="1" i="0">
                <a:solidFill>
                  <a:srgbClr val="22D3EE"/>
                </a:solidFill>
                <a:latin typeface="Calibri"/>
              </a:defRPr>
            </a:pPr>
            <a:r>
              <a:t>verify / audit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5897880"/>
            <a:ext cx="10561320" cy="777240"/>
          </a:xfrm>
          <a:prstGeom prst="roundRect">
            <a:avLst/>
          </a:prstGeom>
          <a:solidFill>
            <a:srgbClr val="121A35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989320"/>
            <a:ext cx="1024128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Inversion turns an opaque latent edit into a sentence you can inspect — and its residual measures how on-manifold the edit 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Method 1 — Contrastive In-Context Steering (the γ-term)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896112"/>
            <a:ext cx="1828800" cy="444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969264"/>
            <a:ext cx="10789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defRPr sz="1350" b="0" i="0">
                <a:solidFill>
                  <a:srgbClr val="A8B4C8"/>
                </a:solidFill>
                <a:latin typeface="Calibri"/>
              </a:defRPr>
            </a:pPr>
            <a:r>
              <a:t>Realize the repulsion ICL attention is missing; ground it in QVM + 'ICL = gradient step'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5349240" cy="2194560"/>
          </a:xfrm>
          <a:prstGeom prst="roundRect">
            <a:avLst/>
          </a:prstGeom>
          <a:solidFill>
            <a:srgbClr val="16213E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91640"/>
            <a:ext cx="4937760" cy="2011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10B981"/>
                </a:solidFill>
                <a:latin typeface="Calibri"/>
              </a:defRPr>
            </a:pPr>
            <a:r>
              <a:t>Classical Rocchio (QVM)</a:t>
            </a:r>
          </a:p>
          <a:p>
            <a:pPr algn="l">
              <a:spcAft>
                <a:spcPts val="200"/>
              </a:spcAft>
              <a:defRPr sz="1500" b="0">
                <a:solidFill>
                  <a:srgbClr val="FFFFFF"/>
                </a:solidFill>
                <a:latin typeface="Consolas"/>
              </a:defRPr>
            </a:pPr>
            <a:r>
              <a:t>q_new = α q_old + β mean(D⁺) − γ mean(D⁻)</a:t>
            </a:r>
          </a:p>
          <a:p>
            <a:pPr algn="l">
              <a:spcAft>
                <a:spcPts val="200"/>
              </a:spcAft>
              <a:defRPr sz="600" b="0">
                <a:solidFill>
                  <a:srgbClr val="A8B4C8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1600" b="1">
                <a:solidFill>
                  <a:srgbClr val="10B981"/>
                </a:solidFill>
                <a:latin typeface="Calibri"/>
              </a:defRPr>
            </a:pPr>
            <a:r>
              <a:t>Our steering vector</a:t>
            </a:r>
          </a:p>
          <a:p>
            <a:pPr algn="l">
              <a:spcAft>
                <a:spcPts val="200"/>
              </a:spcAft>
              <a:defRPr sz="1500" b="0">
                <a:solidFill>
                  <a:srgbClr val="FFFFFF"/>
                </a:solidFill>
                <a:latin typeface="Consolas"/>
              </a:defRPr>
            </a:pPr>
            <a:r>
              <a:t>v = β mean h(D⁺) − γ mean h(D⁻)</a:t>
            </a:r>
          </a:p>
          <a:p>
            <a:pPr algn="l">
              <a:spcAft>
                <a:spcPts val="200"/>
              </a:spcAft>
              <a:defRPr sz="1500" b="0">
                <a:solidFill>
                  <a:srgbClr val="FFFFFF"/>
                </a:solidFill>
                <a:latin typeface="Consolas"/>
              </a:defRPr>
            </a:pPr>
            <a:r>
              <a:t>z = h + λ v   (norm-preserved)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554480"/>
            <a:ext cx="5394960" cy="2194560"/>
          </a:xfrm>
          <a:prstGeom prst="roundRect">
            <a:avLst/>
          </a:prstGeom>
          <a:solidFill>
            <a:srgbClr val="16213E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4983480" cy="2011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3B82F6"/>
                </a:solidFill>
                <a:latin typeface="Calibri"/>
              </a:defRPr>
            </a:pPr>
            <a:r>
              <a:t>Why it is principled</a:t>
            </a:r>
          </a:p>
          <a:p>
            <a:pPr algn="l">
              <a:spcAft>
                <a:spcPts val="200"/>
              </a:spcAft>
              <a:defRPr sz="1450" b="0">
                <a:solidFill>
                  <a:srgbClr val="FFFFFF"/>
                </a:solidFill>
                <a:latin typeface="Calibri"/>
              </a:defRPr>
            </a:pPr>
            <a:r>
              <a:t>•  γ = 0  recovers In-Context Vectors</a:t>
            </a:r>
          </a:p>
          <a:p>
            <a:pPr algn="l">
              <a:spcAft>
                <a:spcPts val="200"/>
              </a:spcAft>
              <a:defRPr sz="1450" b="0">
                <a:solidFill>
                  <a:srgbClr val="FFFFFF"/>
                </a:solidFill>
                <a:latin typeface="Calibri"/>
              </a:defRPr>
            </a:pPr>
            <a:r>
              <a:t>•  γ &gt; 0  =  the NEW repulsive term</a:t>
            </a:r>
          </a:p>
          <a:p>
            <a:pPr algn="l">
              <a:spcAft>
                <a:spcPts val="200"/>
              </a:spcAft>
              <a:defRPr sz="1450" b="0">
                <a:solidFill>
                  <a:srgbClr val="FFFFFF"/>
                </a:solidFill>
                <a:latin typeface="Calibri"/>
              </a:defRPr>
            </a:pPr>
            <a:r>
              <a:t>•  v is a contrastive gradient step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A8B4C8"/>
                </a:solidFill>
                <a:latin typeface="Calibri"/>
              </a:defRPr>
            </a:pPr>
            <a:r>
              <a:t>   (ICL ≈ GD — von Oswald, Dai)</a:t>
            </a:r>
          </a:p>
          <a:p>
            <a:pPr algn="l">
              <a:spcAft>
                <a:spcPts val="200"/>
              </a:spcAft>
              <a:defRPr sz="1450" b="0">
                <a:solidFill>
                  <a:srgbClr val="FFFFFF"/>
                </a:solidFill>
                <a:latin typeface="Calibri"/>
              </a:defRPr>
            </a:pPr>
            <a:r>
              <a:t>•  +FRE: scale axis j by 1/σⱼ (Bhanu)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77639"/>
            <a:ext cx="10927080" cy="2331720"/>
          </a:xfrm>
          <a:prstGeom prst="roundRect">
            <a:avLst/>
          </a:prstGeom>
          <a:solidFill>
            <a:srgbClr val="121A35"/>
          </a:solidFill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114800"/>
            <a:ext cx="10424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defRPr sz="1600" b="1" i="0">
                <a:solidFill>
                  <a:srgbClr val="8B5CF6"/>
                </a:solidFill>
                <a:latin typeface="Calibri"/>
              </a:defRPr>
            </a:pPr>
            <a:r>
              <a:t>Three flavors of 'negative' — increasingly interesting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572000"/>
            <a:ext cx="3291840" cy="1554480"/>
          </a:xfrm>
          <a:prstGeom prst="roundRect">
            <a:avLst/>
          </a:prstGeom>
          <a:solidFill>
            <a:srgbClr val="16213E"/>
          </a:solidFill>
          <a:ln w="15875">
            <a:solidFill>
              <a:srgbClr val="5A68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663440"/>
            <a:ext cx="29260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defRPr sz="1550" b="1" i="0">
                <a:solidFill>
                  <a:srgbClr val="22D3EE"/>
                </a:solidFill>
                <a:latin typeface="Calibri"/>
              </a:defRPr>
            </a:pPr>
            <a:r>
              <a:t>Wrong-class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5029200"/>
            <a:ext cx="29260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defRPr sz="1350" b="0" i="0">
                <a:solidFill>
                  <a:srgbClr val="FFFFFF"/>
                </a:solidFill>
                <a:latin typeface="Calibri"/>
              </a:defRPr>
            </a:pPr>
            <a:r>
              <a:t>repel from the</a:t>
            </a:r>
            <a:br/>
            <a:r>
              <a:t>incorrect label centroid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742432"/>
            <a:ext cx="29260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defRPr sz="1250" b="1" i="0">
                <a:solidFill>
                  <a:srgbClr val="F59E0B"/>
                </a:solidFill>
                <a:latin typeface="Calibri"/>
              </a:defRPr>
            </a:pPr>
            <a:r>
              <a:t>classification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4572000"/>
            <a:ext cx="3291840" cy="1554480"/>
          </a:xfrm>
          <a:prstGeom prst="roundRect">
            <a:avLst/>
          </a:prstGeom>
          <a:solidFill>
            <a:srgbClr val="16213E"/>
          </a:solidFill>
          <a:ln w="15875">
            <a:solidFill>
              <a:srgbClr val="5A68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4663440"/>
            <a:ext cx="29260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defRPr sz="1550" b="1" i="0">
                <a:solidFill>
                  <a:srgbClr val="22D3EE"/>
                </a:solidFill>
                <a:latin typeface="Calibri"/>
              </a:defRPr>
            </a:pPr>
            <a:r>
              <a:t>Flawed reasoning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5029200"/>
            <a:ext cx="29260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defRPr sz="1350" b="0" i="0">
                <a:solidFill>
                  <a:srgbClr val="FFFFFF"/>
                </a:solidFill>
                <a:latin typeface="Calibri"/>
              </a:defRPr>
            </a:pPr>
            <a:r>
              <a:t>correct CoT vs.</a:t>
            </a:r>
            <a:br/>
            <a:r>
              <a:t>corrupted CoT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5742432"/>
            <a:ext cx="29260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defRPr sz="1250" b="1" i="0">
                <a:solidFill>
                  <a:srgbClr val="F59E0B"/>
                </a:solidFill>
                <a:latin typeface="Calibri"/>
              </a:defRPr>
            </a:pPr>
            <a:r>
              <a:t>reasoning control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4572000"/>
            <a:ext cx="3291840" cy="1554480"/>
          </a:xfrm>
          <a:prstGeom prst="roundRect">
            <a:avLst/>
          </a:prstGeom>
          <a:solidFill>
            <a:srgbClr val="16213E"/>
          </a:solidFill>
          <a:ln w="15875">
            <a:solidFill>
              <a:srgbClr val="5A68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4663440"/>
            <a:ext cx="29260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defRPr sz="1550" b="1" i="0">
                <a:solidFill>
                  <a:srgbClr val="22D3EE"/>
                </a:solidFill>
                <a:latin typeface="Calibri"/>
              </a:defRPr>
            </a:pPr>
            <a:r>
              <a:t>Spurious feature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5029200"/>
            <a:ext cx="29260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defRPr sz="1350" b="0" i="0">
                <a:solidFill>
                  <a:srgbClr val="FFFFFF"/>
                </a:solidFill>
                <a:latin typeface="Calibri"/>
              </a:defRPr>
            </a:pPr>
            <a:r>
              <a:t>same label, different</a:t>
            </a:r>
            <a:br/>
            <a:r>
              <a:t>surface 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5742432"/>
            <a:ext cx="29260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defRPr sz="1250" b="1" i="0">
                <a:solidFill>
                  <a:srgbClr val="F59E0B"/>
                </a:solidFill>
                <a:latin typeface="Calibri"/>
              </a:defRPr>
            </a:pPr>
            <a:r>
              <a:t>debiasing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Method 2 — Inversion-as-Audit  +  On-Manifold Loss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896112"/>
            <a:ext cx="1828800" cy="444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969264"/>
            <a:ext cx="10789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defRPr sz="1350" b="0" i="0">
                <a:solidFill>
                  <a:srgbClr val="A8B4C8"/>
                </a:solidFill>
                <a:latin typeface="Calibri"/>
              </a:defRPr>
            </a:pPr>
            <a:r>
              <a:t>Turn the inversion residual into a control metric and a training signal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5349240" cy="2331720"/>
          </a:xfrm>
          <a:prstGeom prst="roundRect">
            <a:avLst/>
          </a:prstGeom>
          <a:solidFill>
            <a:srgbClr val="16213E"/>
          </a:solidFill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91640"/>
            <a:ext cx="4937760" cy="2148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8B5CF6"/>
                </a:solidFill>
                <a:latin typeface="Calibri"/>
              </a:defRPr>
            </a:pPr>
            <a:r>
              <a:t>Audit (read it back)</a:t>
            </a:r>
          </a:p>
          <a:p>
            <a:pPr algn="l">
              <a:spcAft>
                <a:spcPts val="200"/>
              </a:spcAft>
              <a:defRPr sz="1450" b="0">
                <a:solidFill>
                  <a:srgbClr val="FFFFFF"/>
                </a:solidFill>
                <a:latin typeface="Calibri"/>
              </a:defRPr>
            </a:pPr>
            <a:r>
              <a:t>ŝ = SIPIT(z)  — the prompt whose</a:t>
            </a:r>
          </a:p>
          <a:p>
            <a:pPr algn="l">
              <a:spcAft>
                <a:spcPts val="200"/>
              </a:spcAft>
              <a:defRPr sz="1450" b="0">
                <a:solidFill>
                  <a:srgbClr val="FFFFFF"/>
                </a:solidFill>
                <a:latin typeface="Calibri"/>
              </a:defRPr>
            </a:pPr>
            <a:r>
              <a:t>natural trajectory matches z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A8B4C8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1350" b="0">
                <a:solidFill>
                  <a:srgbClr val="A8B4C8"/>
                </a:solidFill>
                <a:latin typeface="Calibri"/>
              </a:defRPr>
            </a:pPr>
            <a:r>
              <a:t>• exact SIPIT: fails off-manifold</a:t>
            </a:r>
          </a:p>
          <a:p>
            <a:pPr algn="l">
              <a:spcAft>
                <a:spcPts val="200"/>
              </a:spcAft>
              <a:defRPr sz="1350" b="0">
                <a:solidFill>
                  <a:srgbClr val="A8B4C8"/>
                </a:solidFill>
                <a:latin typeface="Calibri"/>
              </a:defRPr>
            </a:pPr>
            <a:r>
              <a:t>• relaxed SIPIT: always returns a</a:t>
            </a:r>
          </a:p>
          <a:p>
            <a:pPr algn="l">
              <a:spcAft>
                <a:spcPts val="200"/>
              </a:spcAft>
              <a:defRPr sz="1350" b="0">
                <a:solidFill>
                  <a:srgbClr val="A8B4C8"/>
                </a:solidFill>
                <a:latin typeface="Calibri"/>
              </a:defRPr>
            </a:pPr>
            <a:r>
              <a:t>  prompt = projection onto prompts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554480"/>
            <a:ext cx="5394960" cy="2331720"/>
          </a:xfrm>
          <a:prstGeom prst="roundRect">
            <a:avLst/>
          </a:prstGeom>
          <a:solidFill>
            <a:srgbClr val="16213E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4983480" cy="2148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  <a:defRPr sz="1550" b="1">
                <a:solidFill>
                  <a:srgbClr val="F59E0B"/>
                </a:solidFill>
                <a:latin typeface="Calibri"/>
              </a:defRPr>
            </a:pPr>
            <a:r>
              <a:t>Inversion residual = on-manifold-ness</a:t>
            </a:r>
          </a:p>
          <a:p>
            <a:pPr algn="l">
              <a:spcAft>
                <a:spcPts val="200"/>
              </a:spcAft>
              <a:defRPr sz="1450" b="0">
                <a:solidFill>
                  <a:srgbClr val="FFFFFF"/>
                </a:solidFill>
                <a:latin typeface="Consolas"/>
              </a:defRPr>
            </a:pPr>
            <a:r>
              <a:t>ρ(z) = Σₜ minᵥ ‖ zₜ − hₜ(ŝ&lt;ₜ ⊕ v) ‖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A8B4C8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1400" b="0">
                <a:solidFill>
                  <a:srgbClr val="10B981"/>
                </a:solidFill>
                <a:latin typeface="Calibri"/>
              </a:defRPr>
            </a:pPr>
            <a:r>
              <a:t>ρ ≈ 0  →  a real prompt makes z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EF4444"/>
                </a:solidFill>
                <a:latin typeface="Calibri"/>
              </a:defRPr>
            </a:pPr>
            <a:r>
              <a:t>ρ large →  fiction no prompt creates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114800"/>
            <a:ext cx="10927080" cy="2194560"/>
          </a:xfrm>
          <a:prstGeom prst="roundRect">
            <a:avLst/>
          </a:prstGeom>
          <a:solidFill>
            <a:srgbClr val="121A35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224528"/>
            <a:ext cx="104241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defRPr sz="1600" b="1" i="0">
                <a:solidFill>
                  <a:srgbClr val="10B981"/>
                </a:solidFill>
                <a:latin typeface="Calibri"/>
              </a:defRPr>
            </a:pPr>
            <a:r>
              <a:t>The new training objective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709160"/>
            <a:ext cx="1042416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FFFF"/>
                </a:solidFill>
                <a:latin typeface="Consolas"/>
              </a:defRPr>
            </a:pPr>
            <a:r>
              <a:t>L  =  L_task(z)   +   μ · ρ(z)   +   η · ‖ z − h ‖²</a:t>
            </a:r>
          </a:p>
          <a:p>
            <a:pPr algn="l">
              <a:spcAft>
                <a:spcPts val="200"/>
              </a:spcAft>
              <a:defRPr sz="600" b="0">
                <a:solidFill>
                  <a:srgbClr val="A8B4C8"/>
                </a:solidFill>
                <a:latin typeface="Calibri"/>
              </a:defRPr>
            </a:pPr>
          </a:p>
          <a:p>
            <a:pPr algn="ctr">
              <a:spcAft>
                <a:spcPts val="200"/>
              </a:spcAft>
              <a:defRPr sz="1400" b="0">
                <a:solidFill>
                  <a:srgbClr val="A8B4C8"/>
                </a:solidFill>
                <a:latin typeface="Calibri"/>
              </a:defRPr>
            </a:pPr>
            <a:r>
              <a:t>task control            stay on-manifold (NEW)            minimal edit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Method 3 — Inverse Design of Prompts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896112"/>
            <a:ext cx="1828800" cy="444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969264"/>
            <a:ext cx="10789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defRPr sz="1350" b="0" i="0">
                <a:solidFill>
                  <a:srgbClr val="A8B4C8"/>
                </a:solidFill>
                <a:latin typeface="Calibri"/>
              </a:defRPr>
            </a:pPr>
            <a:r>
              <a:t>Optimize in latent space, then invert to a prompt — exact, not an RL search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2560320" cy="2468880"/>
          </a:xfrm>
          <a:prstGeom prst="roundRect">
            <a:avLst/>
          </a:prstGeom>
          <a:solidFill>
            <a:srgbClr val="16213E"/>
          </a:solidFill>
          <a:ln w="222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645920"/>
            <a:ext cx="2560320" cy="54864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2560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defRPr sz="1700" b="1" i="0">
                <a:solidFill>
                  <a:srgbClr val="FFFFFF"/>
                </a:solidFill>
                <a:latin typeface="Calibri"/>
              </a:defRPr>
            </a:pPr>
            <a:r>
              <a:t>1 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2240280" cy="1554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defRPr sz="1400" b="0" i="0">
                <a:solidFill>
                  <a:srgbClr val="A8B4C8"/>
                </a:solidFill>
                <a:latin typeface="Calibri"/>
              </a:defRPr>
            </a:pPr>
            <a:r>
              <a:t>pick a reasoning goal:</a:t>
            </a:r>
            <a:br/>
            <a:r>
              <a:t>maximize margin</a:t>
            </a:r>
            <a:br/>
            <a:r>
              <a:t>m(z)=log p(y⁺|z)−log p(y⁻|z)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127248" y="2697480"/>
            <a:ext cx="201168" cy="365760"/>
          </a:xfrm>
          <a:prstGeom prst="rightArrow">
            <a:avLst/>
          </a:prstGeom>
          <a:solidFill>
            <a:srgbClr val="5A6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55848" y="1645920"/>
            <a:ext cx="2560320" cy="2468880"/>
          </a:xfrm>
          <a:prstGeom prst="roundRect">
            <a:avLst/>
          </a:prstGeom>
          <a:solidFill>
            <a:srgbClr val="16213E"/>
          </a:solidFill>
          <a:ln w="222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55848" y="1645920"/>
            <a:ext cx="2560320" cy="54864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55848" y="1737360"/>
            <a:ext cx="2560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defRPr sz="1700" b="1" i="0">
                <a:solidFill>
                  <a:srgbClr val="FFFFFF"/>
                </a:solidFill>
                <a:latin typeface="Calibri"/>
              </a:defRPr>
            </a:pPr>
            <a:r>
              <a:t>2  Optimize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8728" y="2423160"/>
            <a:ext cx="2240280" cy="1554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defRPr sz="1400" b="0" i="0">
                <a:solidFill>
                  <a:srgbClr val="A8B4C8"/>
                </a:solidFill>
                <a:latin typeface="Calibri"/>
              </a:defRPr>
            </a:pPr>
            <a:r>
              <a:t>ascend  m(z) − μρ(z)</a:t>
            </a:r>
            <a:br/>
            <a:r>
              <a:t>in latent space</a:t>
            </a:r>
            <a:br/>
            <a:r>
              <a:t>(on-manifold constrained)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34456" y="2697480"/>
            <a:ext cx="201168" cy="365760"/>
          </a:xfrm>
          <a:prstGeom prst="rightArrow">
            <a:avLst/>
          </a:prstGeom>
          <a:solidFill>
            <a:srgbClr val="5A6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63056" y="1645920"/>
            <a:ext cx="2560320" cy="2468880"/>
          </a:xfrm>
          <a:prstGeom prst="roundRect">
            <a:avLst/>
          </a:prstGeom>
          <a:solidFill>
            <a:srgbClr val="16213E"/>
          </a:solidFill>
          <a:ln w="2222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63056" y="1645920"/>
            <a:ext cx="2560320" cy="54864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63056" y="1737360"/>
            <a:ext cx="2560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defRPr sz="1700" b="1" i="0">
                <a:solidFill>
                  <a:srgbClr val="FFFFFF"/>
                </a:solidFill>
                <a:latin typeface="Calibri"/>
              </a:defRPr>
            </a:pPr>
            <a:r>
              <a:t>3  Invert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2423160"/>
            <a:ext cx="2240280" cy="1554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defRPr sz="1400" b="0" i="0">
                <a:solidFill>
                  <a:srgbClr val="A8B4C8"/>
                </a:solidFill>
                <a:latin typeface="Calibri"/>
              </a:defRPr>
            </a:pPr>
            <a:r>
              <a:t>s* = SIPIT(z*)</a:t>
            </a:r>
            <a:br/>
            <a:r>
              <a:t>the prompt that would</a:t>
            </a:r>
            <a:br/>
            <a:r>
              <a:t>induce that reasoning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741664" y="2697480"/>
            <a:ext cx="201168" cy="365760"/>
          </a:xfrm>
          <a:prstGeom prst="rightArrow">
            <a:avLst/>
          </a:prstGeom>
          <a:solidFill>
            <a:srgbClr val="5A6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70264" y="1645920"/>
            <a:ext cx="2560320" cy="2468880"/>
          </a:xfrm>
          <a:prstGeom prst="roundRect">
            <a:avLst/>
          </a:prstGeom>
          <a:solidFill>
            <a:srgbClr val="16213E"/>
          </a:solidFill>
          <a:ln w="222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970264" y="1645920"/>
            <a:ext cx="2560320" cy="54864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70264" y="1737360"/>
            <a:ext cx="2560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defRPr sz="1700" b="1" i="0">
                <a:solidFill>
                  <a:srgbClr val="FFFFFF"/>
                </a:solidFill>
                <a:latin typeface="Calibri"/>
              </a:defRPr>
            </a:pPr>
            <a:r>
              <a:t>4  Compare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53144" y="2423160"/>
            <a:ext cx="2240280" cy="1554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defRPr sz="1400" b="0" i="0">
                <a:solidFill>
                  <a:srgbClr val="A8B4C8"/>
                </a:solidFill>
                <a:latin typeface="Calibri"/>
              </a:defRPr>
            </a:pPr>
            <a:r>
              <a:t>vs. RL example selection</a:t>
            </a:r>
            <a:br/>
            <a:r>
              <a:t>&amp; retrieval — ours is</a:t>
            </a:r>
            <a:br/>
            <a:r>
              <a:t>exact + training-free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480560"/>
            <a:ext cx="11018520" cy="1737360"/>
          </a:xfrm>
          <a:prstGeom prst="roundRect">
            <a:avLst/>
          </a:prstGeom>
          <a:solidFill>
            <a:srgbClr val="121A35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617720"/>
            <a:ext cx="10515600" cy="1554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22D3EE"/>
                </a:solidFill>
                <a:latin typeface="Calibri"/>
              </a:defRPr>
            </a:pPr>
            <a:r>
              <a:t>Why it beats prior prompt discovery</a:t>
            </a:r>
          </a:p>
          <a:p>
            <a:pPr algn="l">
              <a:spcAft>
                <a:spcPts val="200"/>
              </a:spcAft>
              <a:defRPr sz="1450" b="0">
                <a:solidFill>
                  <a:srgbClr val="FFFFFF"/>
                </a:solidFill>
                <a:latin typeface="Calibri"/>
              </a:defRPr>
            </a:pPr>
            <a:r>
              <a:t>Active Example Selection (RL, EMNLP'22) and AutoPrompt / Hard Prompts search DISCRETE prompt space and stay approximate.</a:t>
            </a:r>
          </a:p>
          <a:p>
            <a:pPr algn="l">
              <a:spcAft>
                <a:spcPts val="200"/>
              </a:spcAft>
              <a:defRPr sz="1450" b="0">
                <a:solidFill>
                  <a:srgbClr val="FFFFFF"/>
                </a:solidFill>
                <a:latin typeface="Calibri"/>
              </a:defRPr>
            </a:pPr>
            <a:r>
              <a:t>We optimize in CONTINUOUS latent space and use SIPIT's EXACT inverse — the bijection is what makes this principled.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Experiments — The Predicted Phase Transition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896112"/>
            <a:ext cx="1828800" cy="444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969264"/>
            <a:ext cx="10789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defRPr sz="1350" b="0" i="0">
                <a:solidFill>
                  <a:srgbClr val="A8B4C8"/>
                </a:solidFill>
                <a:latin typeface="Calibri"/>
              </a:defRPr>
            </a:pPr>
            <a:r>
              <a:t>Sweep steering strength λ; invert each steered state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5852160" cy="3703320"/>
          </a:xfrm>
          <a:prstGeom prst="roundRect">
            <a:avLst/>
          </a:prstGeom>
          <a:solidFill>
            <a:srgbClr val="16213E"/>
          </a:solidFill>
          <a:ln w="15875">
            <a:solidFill>
              <a:srgbClr val="5A68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1783080"/>
            <a:ext cx="31750" cy="3017520"/>
          </a:xfrm>
          <a:prstGeom prst="rect">
            <a:avLst/>
          </a:prstGeom>
          <a:solidFill>
            <a:srgbClr val="5A6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754880"/>
            <a:ext cx="4937760" cy="31750"/>
          </a:xfrm>
          <a:prstGeom prst="rect">
            <a:avLst/>
          </a:prstGeom>
          <a:solidFill>
            <a:srgbClr val="5A6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20116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defRPr sz="1200" b="0" i="0">
                <a:solidFill>
                  <a:srgbClr val="A8B4C8"/>
                </a:solidFill>
                <a:latin typeface="Calibri"/>
              </a:defRPr>
            </a:pPr>
            <a:r>
              <a:t>ρ (residual)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4800600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defRPr sz="1300" b="0" i="0">
                <a:solidFill>
                  <a:srgbClr val="A8B4C8"/>
                </a:solidFill>
                <a:latin typeface="Calibri"/>
              </a:defRPr>
            </a:pPr>
            <a:r>
              <a:t>λ 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" y="1874519"/>
            <a:ext cx="1600200" cy="2834640"/>
          </a:xfrm>
          <a:prstGeom prst="rect">
            <a:avLst/>
          </a:prstGeom>
          <a:solidFill>
            <a:srgbClr val="102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34640" y="1874519"/>
            <a:ext cx="1600200" cy="2834640"/>
          </a:xfrm>
          <a:prstGeom prst="rect">
            <a:avLst/>
          </a:prstGeom>
          <a:solidFill>
            <a:srgbClr val="2A2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1874519"/>
            <a:ext cx="1600200" cy="2834640"/>
          </a:xfrm>
          <a:prstGeom prst="rect">
            <a:avLst/>
          </a:prstGeom>
          <a:solidFill>
            <a:srgbClr val="2A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0160" y="4617123"/>
            <a:ext cx="76200" cy="762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495043" y="4616519"/>
            <a:ext cx="76200" cy="762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709928" y="4615304"/>
            <a:ext cx="76200" cy="762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924812" y="4612859"/>
            <a:ext cx="76200" cy="762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139696" y="4607950"/>
            <a:ext cx="76200" cy="762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354579" y="4598119"/>
            <a:ext cx="76200" cy="762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569463" y="4578542"/>
            <a:ext cx="76200" cy="762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784348" y="4539990"/>
            <a:ext cx="76200" cy="762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99232" y="4465710"/>
            <a:ext cx="76200" cy="762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214115" y="4328421"/>
            <a:ext cx="76200" cy="762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428999" y="4093159"/>
            <a:ext cx="76200" cy="762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643884" y="3737833"/>
            <a:ext cx="76200" cy="762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858768" y="3291839"/>
            <a:ext cx="76200" cy="762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073652" y="2845846"/>
            <a:ext cx="76200" cy="762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288536" y="2490520"/>
            <a:ext cx="76200" cy="762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503420" y="2255258"/>
            <a:ext cx="76200" cy="762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718304" y="2117969"/>
            <a:ext cx="76200" cy="762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933188" y="2043689"/>
            <a:ext cx="76200" cy="762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148071" y="2005137"/>
            <a:ext cx="76200" cy="762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362956" y="1985560"/>
            <a:ext cx="76200" cy="762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577840" y="1975729"/>
            <a:ext cx="76200" cy="762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792723" y="1970820"/>
            <a:ext cx="76200" cy="762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34440" y="4773168"/>
            <a:ext cx="1600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defRPr sz="1150" b="1" i="0">
                <a:solidFill>
                  <a:srgbClr val="10B981"/>
                </a:solidFill>
                <a:latin typeface="Calibri"/>
              </a:defRPr>
            </a:pPr>
            <a:r>
              <a:t>recover</a:t>
            </a:r>
            <a:br/>
            <a:r>
              <a:t>original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34640" y="4773168"/>
            <a:ext cx="1600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defRPr sz="1150" b="1" i="0">
                <a:solidFill>
                  <a:srgbClr val="F59E0B"/>
                </a:solidFill>
                <a:latin typeface="Calibri"/>
              </a:defRPr>
            </a:pPr>
            <a:r>
              <a:t>recover</a:t>
            </a:r>
            <a:br/>
            <a:r>
              <a:t>DIFFERENT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34840" y="4773168"/>
            <a:ext cx="1600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defRPr sz="1150" b="1" i="0">
                <a:solidFill>
                  <a:srgbClr val="EF4444"/>
                </a:solidFill>
                <a:latin typeface="Calibri"/>
              </a:defRPr>
            </a:pPr>
            <a:r>
              <a:t>off-</a:t>
            </a:r>
            <a:br/>
            <a:r>
              <a:t>manifold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31720" y="1920240"/>
            <a:ext cx="1828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defRPr sz="1250" b="1" i="0">
                <a:solidFill>
                  <a:srgbClr val="FFFFFF"/>
                </a:solidFill>
                <a:latin typeface="Calibri"/>
              </a:defRPr>
            </a:pPr>
            <a:r>
              <a:t>λ_c ≈ Δ/2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720840" y="1508760"/>
            <a:ext cx="4846320" cy="3703320"/>
          </a:xfrm>
          <a:prstGeom prst="roundRect">
            <a:avLst/>
          </a:prstGeom>
          <a:solidFill>
            <a:srgbClr val="16213E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49440" y="1645920"/>
            <a:ext cx="4434840" cy="3474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3B82F6"/>
                </a:solidFill>
                <a:latin typeface="Calibri"/>
              </a:defRPr>
            </a:pPr>
            <a:r>
              <a:t>Setup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Models  GPT-2 S/L, Pythia-1.4B,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        + Llama-3.1-8B (scale)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Tasks   SST-2, AGNews, style/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        safety transfer, mini-CoT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A8B4C8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1500" b="1">
                <a:solidFill>
                  <a:srgbClr val="22D3EE"/>
                </a:solidFill>
                <a:latin typeface="Calibri"/>
              </a:defRPr>
            </a:pPr>
            <a:r>
              <a:t>Latent metrics (the point)</a:t>
            </a:r>
          </a:p>
          <a:p>
            <a:pPr algn="l">
              <a:spcAft>
                <a:spcPts val="200"/>
              </a:spcAft>
              <a:defRPr sz="1350" b="0">
                <a:solidFill>
                  <a:srgbClr val="FFFFFF"/>
                </a:solidFill>
                <a:latin typeface="Calibri"/>
              </a:defRPr>
            </a:pPr>
            <a:r>
              <a:t>centroid movement · margin m(z)</a:t>
            </a:r>
          </a:p>
          <a:p>
            <a:pPr algn="l">
              <a:spcAft>
                <a:spcPts val="200"/>
              </a:spcAft>
              <a:defRPr sz="1350" b="0">
                <a:solidFill>
                  <a:srgbClr val="FFFFFF"/>
                </a:solidFill>
                <a:latin typeface="Calibri"/>
              </a:defRPr>
            </a:pPr>
            <a:r>
              <a:t>residual ρ · recovery regime</a:t>
            </a:r>
          </a:p>
          <a:p>
            <a:pPr algn="l">
              <a:spcAft>
                <a:spcPts val="200"/>
              </a:spcAft>
              <a:defRPr sz="1350" b="0">
                <a:solidFill>
                  <a:srgbClr val="FFFFFF"/>
                </a:solidFill>
                <a:latin typeface="Calibri"/>
              </a:defRPr>
            </a:pPr>
            <a:r>
              <a:t>token-edit dist of ŝ</a:t>
            </a:r>
          </a:p>
          <a:p>
            <a:pPr algn="l">
              <a:spcAft>
                <a:spcPts val="200"/>
              </a:spcAft>
              <a:defRPr sz="400" b="0">
                <a:solidFill>
                  <a:srgbClr val="A8B4C8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A8B4C8"/>
                </a:solidFill>
                <a:latin typeface="Calibri"/>
              </a:defRPr>
            </a:pPr>
            <a:r>
              <a:t>Output metrics confirm: acc, F1, ECE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20840" y="5349240"/>
            <a:ext cx="48463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defRPr sz="1350" b="1" i="0">
                <a:solidFill>
                  <a:srgbClr val="10B981"/>
                </a:solidFill>
                <a:latin typeface="Calibri"/>
              </a:defRPr>
            </a:pPr>
            <a:r>
              <a:t>This one figure is a clean, novel result — independent of any accuracy gain.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Contributions  &amp;  Why It's Top-Tier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896112"/>
            <a:ext cx="1828800" cy="444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0927080" cy="713232"/>
          </a:xfrm>
          <a:prstGeom prst="roundRect">
            <a:avLst/>
          </a:prstGeom>
          <a:solidFill>
            <a:srgbClr val="16213E"/>
          </a:solidFill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914400" cy="713232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914400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C1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1417320"/>
            <a:ext cx="9509760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defRPr sz="1550" b="0" i="0">
                <a:solidFill>
                  <a:srgbClr val="FFFFFF"/>
                </a:solidFill>
                <a:latin typeface="Calibri"/>
              </a:defRPr>
            </a:pPr>
            <a:r>
              <a:t>First inversion of a MANIPULATED hidden state — latent edits become legible prompts.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58568"/>
            <a:ext cx="10927080" cy="713232"/>
          </a:xfrm>
          <a:prstGeom prst="roundRect">
            <a:avLst/>
          </a:prstGeom>
          <a:solidFill>
            <a:srgbClr val="16213E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258568"/>
            <a:ext cx="914400" cy="713232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258568"/>
            <a:ext cx="914400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C2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2258568"/>
            <a:ext cx="9509760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defRPr sz="1550" b="0" i="0">
                <a:solidFill>
                  <a:srgbClr val="FFFFFF"/>
                </a:solidFill>
                <a:latin typeface="Calibri"/>
              </a:defRPr>
            </a:pPr>
            <a:r>
              <a:t>ρ: a faithful on-manifold metric with a phase transition predicted by SIPIT's robustness bound.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099816"/>
            <a:ext cx="10927080" cy="713232"/>
          </a:xfrm>
          <a:prstGeom prst="roundRect">
            <a:avLst/>
          </a:prstGeom>
          <a:solidFill>
            <a:srgbClr val="16213E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3099816"/>
            <a:ext cx="914400" cy="713232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099816"/>
            <a:ext cx="914400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C3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3099816"/>
            <a:ext cx="9509760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defRPr sz="1550" b="0" i="0">
                <a:solidFill>
                  <a:srgbClr val="FFFFFF"/>
                </a:solidFill>
                <a:latin typeface="Calibri"/>
              </a:defRPr>
            </a:pPr>
            <a:r>
              <a:t>The γ-term (absent from ICL) improves controllable reasoning, visibly in latent space.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941064"/>
            <a:ext cx="10927080" cy="713232"/>
          </a:xfrm>
          <a:prstGeom prst="roundRect">
            <a:avLst/>
          </a:prstGeom>
          <a:solidFill>
            <a:srgbClr val="16213E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3941064"/>
            <a:ext cx="914400" cy="713232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941064"/>
            <a:ext cx="914400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C4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3941064"/>
            <a:ext cx="9509760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defRPr sz="1550" b="0" i="0">
                <a:solidFill>
                  <a:srgbClr val="FFFFFF"/>
                </a:solidFill>
                <a:latin typeface="Calibri"/>
              </a:defRPr>
            </a:pPr>
            <a:r>
              <a:t>On-manifold regularizer → control that is equally effective but AUDITABLE &amp; robust.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782312"/>
            <a:ext cx="10927080" cy="713232"/>
          </a:xfrm>
          <a:prstGeom prst="roundRect">
            <a:avLst/>
          </a:prstGeom>
          <a:solidFill>
            <a:srgbClr val="16213E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" y="4782312"/>
            <a:ext cx="914400" cy="713232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782312"/>
            <a:ext cx="914400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C5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4782312"/>
            <a:ext cx="9509760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defRPr sz="1550" b="0" i="0">
                <a:solidFill>
                  <a:srgbClr val="FFFFFF"/>
                </a:solidFill>
                <a:latin typeface="Calibri"/>
              </a:defRPr>
            </a:pPr>
            <a:r>
              <a:t>Inverse design: optimize latents, invert to prompts — exact alternative to RL selection.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80644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defRPr sz="1400" b="1" i="0">
                <a:solidFill>
                  <a:srgbClr val="22D3EE"/>
                </a:solidFill>
                <a:latin typeface="Calibri"/>
              </a:defRPr>
            </a:pPr>
            <a:r>
              <a:t>Headline: the first AUDITABLE, on-manifold method to control LLM reasoning in latent space — built on the freshly-proven invertibility of transformers.  C1+C2 alone is a paper.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4-Week Sprint  →  Submission-Grade Draft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896112"/>
            <a:ext cx="1828800" cy="444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554480"/>
            <a:ext cx="2148840" cy="2743200"/>
          </a:xfrm>
          <a:prstGeom prst="roundRect">
            <a:avLst/>
          </a:prstGeom>
          <a:solidFill>
            <a:srgbClr val="16213E"/>
          </a:solidFill>
          <a:ln w="22225">
            <a:solidFill>
              <a:srgbClr val="5A68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664208"/>
            <a:ext cx="21488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defRPr sz="1300" b="1" i="0">
                <a:solidFill>
                  <a:srgbClr val="5A6882"/>
                </a:solidFill>
                <a:latin typeface="Calibri"/>
              </a:defRPr>
            </a:pPr>
            <a:r>
              <a:t>Days 1–4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011680"/>
            <a:ext cx="21488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defRPr sz="1700" b="1" i="0">
                <a:solidFill>
                  <a:srgbClr val="FFFFFF"/>
                </a:solidFill>
                <a:latin typeface="Calibri"/>
              </a:defRPr>
            </a:pPr>
            <a:r>
              <a:t>Reproduce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514600"/>
            <a:ext cx="1828800" cy="1645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defRPr sz="1350" b="0" i="0">
                <a:solidFill>
                  <a:srgbClr val="A8B4C8"/>
                </a:solidFill>
                <a:latin typeface="Calibri"/>
              </a:defRPr>
            </a:pPr>
            <a:r>
              <a:t>ICV steer + SIPIT</a:t>
            </a:r>
            <a:br/>
            <a:r>
              <a:t>invert in our harness</a:t>
            </a:r>
            <a:br/>
            <a:r>
              <a:t>(gate before moving 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24912" y="1554480"/>
            <a:ext cx="2148840" cy="2743200"/>
          </a:xfrm>
          <a:prstGeom prst="roundRect">
            <a:avLst/>
          </a:prstGeom>
          <a:solidFill>
            <a:srgbClr val="16213E"/>
          </a:solidFill>
          <a:ln w="222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24912" y="1664208"/>
            <a:ext cx="21488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defRPr sz="1300" b="1" i="0">
                <a:solidFill>
                  <a:srgbClr val="22D3EE"/>
                </a:solidFill>
                <a:latin typeface="Calibri"/>
              </a:defRPr>
            </a:pPr>
            <a:r>
              <a:t>Days 5–11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4912" y="2011680"/>
            <a:ext cx="21488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defRPr sz="1700" b="1" i="0">
                <a:solidFill>
                  <a:srgbClr val="FFFFFF"/>
                </a:solidFill>
                <a:latin typeface="Calibri"/>
              </a:defRPr>
            </a:pPr>
            <a:r>
              <a:t>Phase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9504" y="2514600"/>
            <a:ext cx="1828800" cy="1645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defRPr sz="1350" b="0" i="0">
                <a:solidFill>
                  <a:srgbClr val="A8B4C8"/>
                </a:solidFill>
                <a:latin typeface="Calibri"/>
              </a:defRPr>
            </a:pPr>
            <a:r>
              <a:t>Steer→Invert phase</a:t>
            </a:r>
            <a:br/>
            <a:r>
              <a:t>transition — the SAFE</a:t>
            </a:r>
            <a:br/>
            <a:r>
              <a:t>core result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38344" y="1554480"/>
            <a:ext cx="2148840" cy="2743200"/>
          </a:xfrm>
          <a:prstGeom prst="roundRect">
            <a:avLst/>
          </a:prstGeom>
          <a:solidFill>
            <a:srgbClr val="16213E"/>
          </a:solidFill>
          <a:ln w="222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38344" y="1664208"/>
            <a:ext cx="21488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defRPr sz="1300" b="1" i="0">
                <a:solidFill>
                  <a:srgbClr val="10B981"/>
                </a:solidFill>
                <a:latin typeface="Calibri"/>
              </a:defRPr>
            </a:pPr>
            <a:r>
              <a:t>Days 12–20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38344" y="2011680"/>
            <a:ext cx="21488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defRPr sz="1700" b="1" i="0">
                <a:solidFill>
                  <a:srgbClr val="FFFFFF"/>
                </a:solidFill>
                <a:latin typeface="Calibri"/>
              </a:defRPr>
            </a:pPr>
            <a:r>
              <a:t>Phase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02936" y="2514600"/>
            <a:ext cx="1828800" cy="1645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defRPr sz="1350" b="0" i="0">
                <a:solidFill>
                  <a:srgbClr val="A8B4C8"/>
                </a:solidFill>
                <a:latin typeface="Calibri"/>
              </a:defRPr>
            </a:pPr>
            <a:r>
              <a:t>γ-term reasoning</a:t>
            </a:r>
            <a:br/>
            <a:r>
              <a:t>control; latent-space</a:t>
            </a:r>
            <a:br/>
            <a:r>
              <a:t>measurement + audit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51776" y="1554480"/>
            <a:ext cx="2148840" cy="2743200"/>
          </a:xfrm>
          <a:prstGeom prst="roundRect">
            <a:avLst/>
          </a:prstGeom>
          <a:solidFill>
            <a:srgbClr val="16213E"/>
          </a:solidFill>
          <a:ln w="2222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51776" y="1664208"/>
            <a:ext cx="21488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defRPr sz="1300" b="1" i="0">
                <a:solidFill>
                  <a:srgbClr val="8B5CF6"/>
                </a:solidFill>
                <a:latin typeface="Calibri"/>
              </a:defRPr>
            </a:pPr>
            <a:r>
              <a:t>Days 21–27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51776" y="2011680"/>
            <a:ext cx="21488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defRPr sz="1700" b="1" i="0">
                <a:solidFill>
                  <a:srgbClr val="FFFFFF"/>
                </a:solidFill>
                <a:latin typeface="Calibri"/>
              </a:defRPr>
            </a:pPr>
            <a:r>
              <a:t>Phase 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16368" y="2514600"/>
            <a:ext cx="1828800" cy="1645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defRPr sz="1350" b="0" i="0">
                <a:solidFill>
                  <a:srgbClr val="A8B4C8"/>
                </a:solidFill>
                <a:latin typeface="Calibri"/>
              </a:defRPr>
            </a:pPr>
            <a:r>
              <a:t>On-manifold loss +</a:t>
            </a:r>
            <a:br/>
            <a:r>
              <a:t>inverse design</a:t>
            </a:r>
            <a:br/>
            <a:r>
              <a:t>(upside)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65208" y="1554480"/>
            <a:ext cx="2148840" cy="2743200"/>
          </a:xfrm>
          <a:prstGeom prst="roundRect">
            <a:avLst/>
          </a:prstGeom>
          <a:solidFill>
            <a:srgbClr val="16213E"/>
          </a:solidFill>
          <a:ln w="222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65208" y="1664208"/>
            <a:ext cx="21488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defRPr sz="1300" b="1" i="0">
                <a:solidFill>
                  <a:srgbClr val="F59E0B"/>
                </a:solidFill>
                <a:latin typeface="Calibri"/>
              </a:defRPr>
            </a:pPr>
            <a:r>
              <a:t>Days 28–30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65208" y="2011680"/>
            <a:ext cx="21488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defRPr sz="1700" b="1" i="0">
                <a:solidFill>
                  <a:srgbClr val="FFFFFF"/>
                </a:solidFill>
                <a:latin typeface="Calibri"/>
              </a:defRPr>
            </a:pPr>
            <a:r>
              <a:t>Write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800" y="2514600"/>
            <a:ext cx="1828800" cy="1645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defRPr sz="1350" b="0" i="0">
                <a:solidFill>
                  <a:srgbClr val="A8B4C8"/>
                </a:solidFill>
                <a:latin typeface="Calibri"/>
              </a:defRPr>
            </a:pPr>
            <a:r>
              <a:t>Ablations, ≥5 seeds,</a:t>
            </a:r>
            <a:br/>
            <a:r>
              <a:t>figures, arXiv draft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4572000"/>
            <a:ext cx="11338560" cy="1737360"/>
          </a:xfrm>
          <a:prstGeom prst="roundRect">
            <a:avLst/>
          </a:prstGeom>
          <a:solidFill>
            <a:srgbClr val="121A35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709160"/>
            <a:ext cx="10881360" cy="1554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3B82F6"/>
                </a:solidFill>
                <a:latin typeface="Calibri"/>
              </a:defRPr>
            </a:pPr>
            <a:r>
              <a:t>Realistic framing</a:t>
            </a:r>
          </a:p>
          <a:p>
            <a:pPr algn="l">
              <a:spcAft>
                <a:spcPts val="200"/>
              </a:spcAft>
              <a:defRPr sz="1450" b="0">
                <a:solidFill>
                  <a:srgbClr val="FFFFFF"/>
                </a:solidFill>
                <a:latin typeface="Calibri"/>
              </a:defRPr>
            </a:pPr>
            <a:r>
              <a:t>Month 1 = a complete, submission-grade manuscript + an arXiv preprint to plant the flag (the invertibility result is brand-new — speed matters).</a:t>
            </a:r>
          </a:p>
          <a:p>
            <a:pPr algn="l">
              <a:spcAft>
                <a:spcPts val="200"/>
              </a:spcAft>
              <a:defRPr sz="1450" b="0">
                <a:solidFill>
                  <a:srgbClr val="A8B4C8"/>
                </a:solidFill>
                <a:latin typeface="Calibri"/>
              </a:defRPr>
            </a:pPr>
            <a:r>
              <a:t>Target: ICLR 2027 (abstract ~late Sept '26); workshop + arXiv now. A 30-day camera-ready accept is NOT realistic — a strong draft 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Risks We've Already Thought Through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896112"/>
            <a:ext cx="1828800" cy="4445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257800" cy="822960"/>
          </a:xfrm>
          <a:prstGeom prst="roundRect">
            <a:avLst/>
          </a:prstGeom>
          <a:solidFill>
            <a:srgbClr val="16213E"/>
          </a:solidFill>
          <a:ln w="1587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493776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defRPr sz="1450" b="1" i="0">
                <a:solidFill>
                  <a:srgbClr val="FFFFFF"/>
                </a:solidFill>
                <a:latin typeface="Calibri"/>
              </a:defRPr>
            </a:pPr>
            <a:r>
              <a:t>Exact SIPIT won't terminate off-manifold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43600" y="1673352"/>
            <a:ext cx="365760" cy="310896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0" y="1417320"/>
            <a:ext cx="5166360" cy="822960"/>
          </a:xfrm>
          <a:prstGeom prst="roundRect">
            <a:avLst/>
          </a:prstGeom>
          <a:solidFill>
            <a:srgbClr val="16213E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417320"/>
            <a:ext cx="484632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defRPr sz="1350" b="0" i="0">
                <a:solidFill>
                  <a:srgbClr val="A8B4C8"/>
                </a:solidFill>
                <a:latin typeface="Calibri"/>
              </a:defRPr>
            </a:pPr>
            <a:r>
              <a:t>Use relaxed (nearest-token) SIPIT for the audit; its failure DEFINES the off-manifold regime.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350008"/>
            <a:ext cx="5257800" cy="822960"/>
          </a:xfrm>
          <a:prstGeom prst="roundRect">
            <a:avLst/>
          </a:prstGeom>
          <a:solidFill>
            <a:srgbClr val="16213E"/>
          </a:solidFill>
          <a:ln w="1587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350008"/>
            <a:ext cx="493776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defRPr sz="1450" b="1" i="0">
                <a:solidFill>
                  <a:srgbClr val="FFFFFF"/>
                </a:solidFill>
                <a:latin typeface="Calibri"/>
              </a:defRPr>
            </a:pPr>
            <a:r>
              <a:t>Multi-layer steering breaks inversion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943600" y="2606040"/>
            <a:ext cx="365760" cy="310896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0" y="2350008"/>
            <a:ext cx="5166360" cy="822960"/>
          </a:xfrm>
          <a:prstGeom prst="roundRect">
            <a:avLst/>
          </a:prstGeom>
          <a:solidFill>
            <a:srgbClr val="16213E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350008"/>
            <a:ext cx="484632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defRPr sz="1350" b="0" i="0">
                <a:solidFill>
                  <a:srgbClr val="A8B4C8"/>
                </a:solidFill>
                <a:latin typeface="Calibri"/>
              </a:defRPr>
            </a:pPr>
            <a:r>
              <a:t>Steer + invert at the SAME single layer ℓ*; report the layer sweep.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282696"/>
            <a:ext cx="5257800" cy="822960"/>
          </a:xfrm>
          <a:prstGeom prst="roundRect">
            <a:avLst/>
          </a:prstGeom>
          <a:solidFill>
            <a:srgbClr val="16213E"/>
          </a:solidFill>
          <a:ln w="1587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282696"/>
            <a:ext cx="493776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defRPr sz="1450" b="1" i="0">
                <a:solidFill>
                  <a:srgbClr val="FFFFFF"/>
                </a:solidFill>
                <a:latin typeface="Calibri"/>
              </a:defRPr>
            </a:pPr>
            <a:r>
              <a:t>SIPIT is slow (~28s/prompt)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43600" y="3538728"/>
            <a:ext cx="365760" cy="310896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0" y="3282696"/>
            <a:ext cx="5166360" cy="822960"/>
          </a:xfrm>
          <a:prstGeom prst="roundRect">
            <a:avLst/>
          </a:prstGeom>
          <a:solidFill>
            <a:srgbClr val="16213E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3282696"/>
            <a:ext cx="484632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defRPr sz="1350" b="0" i="0">
                <a:solidFill>
                  <a:srgbClr val="A8B4C8"/>
                </a:solidFill>
                <a:latin typeface="Calibri"/>
              </a:defRPr>
            </a:pPr>
            <a:r>
              <a:t>Budget on GPT-2/Pythia; subsample Llama; cache prefix forwards; gradient-guided policy.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215384"/>
            <a:ext cx="5257800" cy="822960"/>
          </a:xfrm>
          <a:prstGeom prst="roundRect">
            <a:avLst/>
          </a:prstGeom>
          <a:solidFill>
            <a:srgbClr val="16213E"/>
          </a:solidFill>
          <a:ln w="1587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215384"/>
            <a:ext cx="493776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defRPr sz="1450" b="1" i="0">
                <a:solidFill>
                  <a:srgbClr val="FFFFFF"/>
                </a:solidFill>
                <a:latin typeface="Calibri"/>
              </a:defRPr>
            </a:pPr>
            <a:r>
              <a:t>γ gains shrink at scale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943600" y="4471416"/>
            <a:ext cx="365760" cy="310896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0" y="4215384"/>
            <a:ext cx="5166360" cy="822960"/>
          </a:xfrm>
          <a:prstGeom prst="roundRect">
            <a:avLst/>
          </a:prstGeom>
          <a:solidFill>
            <a:srgbClr val="16213E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4215384"/>
            <a:ext cx="484632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defRPr sz="1350" b="0" i="0">
                <a:solidFill>
                  <a:srgbClr val="A8B4C8"/>
                </a:solidFill>
                <a:latin typeface="Calibri"/>
              </a:defRPr>
            </a:pPr>
            <a:r>
              <a:t>Lead with the scale-robust mechanism (C1, C2, C4); γ helps most near decision boundaries.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148072"/>
            <a:ext cx="5257800" cy="822960"/>
          </a:xfrm>
          <a:prstGeom prst="roundRect">
            <a:avLst/>
          </a:prstGeom>
          <a:solidFill>
            <a:srgbClr val="16213E"/>
          </a:solidFill>
          <a:ln w="1587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148072"/>
            <a:ext cx="493776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defRPr sz="1450" b="1" i="0">
                <a:solidFill>
                  <a:srgbClr val="FFFFFF"/>
                </a:solidFill>
                <a:latin typeface="Calibri"/>
              </a:defRPr>
            </a:pPr>
            <a:r>
              <a:t>'Isn't this just ICV + a known inverter?'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5943600" y="5404104"/>
            <a:ext cx="365760" cy="310896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00800" y="5148072"/>
            <a:ext cx="5166360" cy="822960"/>
          </a:xfrm>
          <a:prstGeom prst="roundRect">
            <a:avLst/>
          </a:prstGeom>
          <a:solidFill>
            <a:srgbClr val="16213E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5148072"/>
            <a:ext cx="484632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defRPr sz="1350" b="0" i="0">
                <a:solidFill>
                  <a:srgbClr val="A8B4C8"/>
                </a:solidFill>
                <a:latin typeface="Calibri"/>
              </a:defRPr>
            </a:pPr>
            <a:r>
              <a:t>No: inverting a MANIPULATED state and the on-manifold metric/loss are both new.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17220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defRPr sz="1400" b="1" i="0">
                <a:solidFill>
                  <a:srgbClr val="22D3EE"/>
                </a:solidFill>
                <a:latin typeface="Calibri"/>
              </a:defRPr>
            </a:pPr>
            <a:r>
              <a:t>Even a negative result (steering is usually token-invisible) is a striking interpretability statement.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920240"/>
            <a:ext cx="8531352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defRPr sz="5000" b="1" i="0">
                <a:solidFill>
                  <a:srgbClr val="FFFFFF"/>
                </a:solidFill>
                <a:latin typeface="Calibri"/>
              </a:defRPr>
            </a:pPr>
            <a:r>
              <a:t>Discussion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0" y="2971800"/>
            <a:ext cx="2286000" cy="508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291840"/>
            <a:ext cx="8531352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200"/>
              </a:spcAft>
              <a:defRPr sz="1900" b="0">
                <a:solidFill>
                  <a:srgbClr val="A8B4C8"/>
                </a:solidFill>
                <a:latin typeface="Calibri"/>
              </a:defRPr>
            </a:pPr>
            <a:r>
              <a:t>Steer the reasoning  ·  invert to read it  ·  keep it on-manifold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389120"/>
            <a:ext cx="8531352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2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Pratyay Dutta</a:t>
            </a:r>
          </a:p>
          <a:p>
            <a:pPr algn="ctr">
              <a:spcAft>
                <a:spcPts val="200"/>
              </a:spcAft>
              <a:defRPr sz="1600" b="0">
                <a:solidFill>
                  <a:srgbClr val="22D3EE"/>
                </a:solidFill>
                <a:latin typeface="Calibri"/>
              </a:defRPr>
            </a:pPr>
            <a:r>
              <a:t>pdutt005@ucr.edu</a:t>
            </a:r>
          </a:p>
          <a:p>
            <a:pPr algn="l">
              <a:spcAft>
                <a:spcPts val="200"/>
              </a:spcAft>
              <a:defRPr sz="600" b="0">
                <a:solidFill>
                  <a:srgbClr val="A8B4C8"/>
                </a:solidFill>
                <a:latin typeface="Calibri"/>
              </a:defRPr>
            </a:pPr>
          </a:p>
          <a:p>
            <a:pPr algn="ctr">
              <a:spcAft>
                <a:spcPts val="200"/>
              </a:spcAft>
              <a:defRPr sz="1400" b="0">
                <a:solidFill>
                  <a:srgbClr val="A8B4C8"/>
                </a:solidFill>
                <a:latin typeface="Calibri"/>
              </a:defRPr>
            </a:pPr>
            <a:r>
              <a:t>UC Riverside  |  Lawrence Livermore National Laboratory  |  Advisor: Prof. Bir Bhanu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