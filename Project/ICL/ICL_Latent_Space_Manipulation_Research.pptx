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723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8CFF"/>
          </a:solidFill>
          <a:ln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A0AEC0"/>
                </a:solidFill>
                <a:latin typeface="Calibri"/>
              </a:defRPr>
            </a:pPr>
            <a:r>
              <a:t>In-Context Learning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FFFFFF"/>
                </a:solidFill>
                <a:latin typeface="Calibri"/>
              </a:defRPr>
            </a:pPr>
            <a:r>
              <a:t>Latent Space Manipulation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108960"/>
            <a:ext cx="2286000" cy="5080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4AA"/>
                </a:solidFill>
                <a:latin typeface="Calibri"/>
              </a:defRPr>
            </a:pPr>
            <a:r>
              <a:t>A Unified QVM-FRE-BI Framework for Understanding and Improving ICL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Pratyay Dutta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A0AEC0"/>
                </a:solidFill>
                <a:latin typeface="Calibri"/>
              </a:defRPr>
            </a:pPr>
            <a:r>
              <a:t>Department of Computer Science, University of California, Riverside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A0AEC0"/>
                </a:solidFill>
                <a:latin typeface="Calibri"/>
              </a:defRPr>
            </a:pPr>
            <a:r>
              <a:t>Lawrence Livermore National Laboratory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600" b="0">
                <a:solidFill>
                  <a:srgbClr val="008CFF"/>
                </a:solidFill>
                <a:latin typeface="Calibri"/>
              </a:defRPr>
            </a:pPr>
            <a:r>
              <a:t>Phase 1: Systematic Problem Identification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029200" cy="2468880"/>
          </a:xfrm>
          <a:prstGeom prst="rect">
            <a:avLst/>
          </a:prstGeom>
          <a:solidFill>
            <a:srgbClr val="16213E"/>
          </a:solidFill>
          <a:ln w="12700">
            <a:solidFill>
              <a:srgbClr val="607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457200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008CFF"/>
                </a:solidFill>
                <a:latin typeface="Calibri"/>
              </a:defRPr>
            </a:pPr>
            <a:r>
              <a:rPr dirty="0"/>
              <a:t>The Problem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A0AEC0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300"/>
              </a:spcAft>
              <a:defRPr sz="1400" b="0">
                <a:solidFill>
                  <a:srgbClr val="A0AEC0"/>
                </a:solidFill>
                <a:latin typeface="Calibri"/>
              </a:defRPr>
            </a:pPr>
            <a:r>
              <a:rPr dirty="0"/>
              <a:t>  ICL works </a:t>
            </a:r>
            <a:r>
              <a:rPr lang="en-US" dirty="0"/>
              <a:t>–</a:t>
            </a:r>
            <a:r>
              <a:rPr dirty="0"/>
              <a:t> but</a:t>
            </a:r>
            <a:r>
              <a:rPr lang="en-US" dirty="0"/>
              <a:t> f</a:t>
            </a:r>
            <a:r>
              <a:rPr dirty="0"/>
              <a:t>ragile: sensitive to demo order, selection, </a:t>
            </a:r>
            <a:r>
              <a:rPr lang="en-US" dirty="0"/>
              <a:t>            </a:t>
            </a:r>
            <a:r>
              <a:rPr dirty="0"/>
              <a:t>formatting</a:t>
            </a:r>
          </a:p>
          <a:p>
            <a:pPr marL="285750" indent="-285750" algn="l">
              <a:spcAft>
                <a:spcPts val="300"/>
              </a:spcAft>
              <a:buFont typeface="Arial" panose="020B0604020202020204" pitchFamily="34" charset="0"/>
              <a:buChar char="•"/>
              <a:defRPr sz="1400" b="0">
                <a:solidFill>
                  <a:srgbClr val="A0AEC0"/>
                </a:solidFill>
                <a:latin typeface="Calibri"/>
              </a:defRPr>
            </a:pPr>
            <a:r>
              <a:rPr dirty="0"/>
              <a:t>  Lacks negative feedback mechanism</a:t>
            </a:r>
          </a:p>
          <a:p>
            <a:pPr marL="285750" indent="-285750" algn="l">
              <a:spcAft>
                <a:spcPts val="300"/>
              </a:spcAft>
              <a:buFont typeface="Arial" panose="020B0604020202020204" pitchFamily="34" charset="0"/>
              <a:buChar char="•"/>
              <a:defRPr sz="1400" b="0">
                <a:solidFill>
                  <a:srgbClr val="A0AEC0"/>
                </a:solidFill>
                <a:latin typeface="Calibri"/>
              </a:defRPr>
            </a:pPr>
            <a:r>
              <a:rPr dirty="0"/>
              <a:t>  No explicit feature selection / axis weighting</a:t>
            </a:r>
          </a:p>
          <a:p>
            <a:pPr marL="285750" indent="-285750" algn="l">
              <a:spcAft>
                <a:spcPts val="300"/>
              </a:spcAft>
              <a:buFont typeface="Arial" panose="020B0604020202020204" pitchFamily="34" charset="0"/>
              <a:buChar char="•"/>
              <a:defRPr sz="1400" b="0">
                <a:solidFill>
                  <a:srgbClr val="A0AEC0"/>
                </a:solidFill>
                <a:latin typeface="Calibri"/>
              </a:defRPr>
            </a:pPr>
            <a:r>
              <a:rPr dirty="0"/>
              <a:t>  Theory-practice gap in latent space dynamics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029200" cy="2468880"/>
          </a:xfrm>
          <a:prstGeom prst="rect">
            <a:avLst/>
          </a:prstGeom>
          <a:solidFill>
            <a:srgbClr val="16213E"/>
          </a:solidFill>
          <a:ln w="12700">
            <a:solidFill>
              <a:srgbClr val="607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10B981"/>
                </a:solidFill>
                <a:latin typeface="Calibri"/>
              </a:defRPr>
            </a:pPr>
            <a:r>
              <a:t>The Opportunity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0">
                <a:solidFill>
                  <a:srgbClr val="A0AEC0"/>
                </a:solidFill>
                <a:latin typeface="Calibri"/>
              </a:defRPr>
            </a:pPr>
            <a:r>
              <a:t>  Classical CBIR solved analogous problems 20 years ago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A0AEC0"/>
                </a:solidFill>
                <a:latin typeface="Calibri"/>
              </a:defRPr>
            </a:pPr>
            <a:r>
              <a:t>  QVM (Rocchio) = Attention-weighted residual updates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A0AEC0"/>
                </a:solidFill>
                <a:latin typeface="Calibri"/>
              </a:defRPr>
            </a:pPr>
            <a:r>
              <a:t>  FRE = Per-axis feature importance weighting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A0AEC0"/>
                </a:solidFill>
                <a:latin typeface="Calibri"/>
              </a:defRPr>
            </a:pPr>
            <a:r>
              <a:t>  BI = Posterior task inference P(y|x,C)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A0AEC0"/>
                </a:solidFill>
                <a:latin typeface="Calibri"/>
              </a:defRPr>
            </a:pPr>
            <a:r>
              <a:t>  Cross-disciplinary bridge = high-impact research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10515600" cy="2468880"/>
          </a:xfrm>
          <a:prstGeom prst="rect">
            <a:avLst/>
          </a:prstGeom>
          <a:solidFill>
            <a:srgbClr val="121A35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9875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200" b="1">
                <a:solidFill>
                  <a:srgbClr val="00D4AA"/>
                </a:solidFill>
                <a:latin typeface="Calibri"/>
              </a:defRPr>
            </a:pPr>
            <a:r>
              <a:t>Core Research Question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"Do transformer attention mechanisms during ICL implicitly perform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Feature Relevance Estimation (FRE) -- dynamically re-weighting latent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dimensions based on the variance structure of demonstrations -- and can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this be made explicit to improve ICL performance and interpretability?"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8CFF"/>
          </a:solidFill>
          <a:ln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Background: How ICL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008CFF"/>
          </a:solidFill>
          <a:ln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607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008CFF"/>
                </a:solidFill>
                <a:latin typeface="Calibri"/>
              </a:defRPr>
            </a:pPr>
            <a:r>
              <a:t>ICL Formulation (Dong et al., 2022)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0">
                <a:solidFill>
                  <a:srgbClr val="A0AEC0"/>
                </a:solidFill>
                <a:latin typeface="Calibri"/>
              </a:defRPr>
            </a:pPr>
            <a:r>
              <a:t>Parameters are frozen. Context C = {(x1,y1),...,(xk,yk)} concatenated with query x_target.</a:t>
            </a:r>
          </a:p>
          <a:p>
            <a:pPr algn="l">
              <a:spcAft>
                <a:spcPts val="3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y* = argmax_y  P(y | x_target, C; theta)           -- No gradient updates, only forward pass</a:t>
            </a:r>
          </a:p>
          <a:p>
            <a:pPr algn="l">
              <a:spcAft>
                <a:spcPts val="3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Under the hood: P(y|x,C) = integral P(y|x,gamma) P(gamma|C) d_gamma   -- Implicit Bayesian inference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5029200" cy="3200400"/>
          </a:xfrm>
          <a:prstGeom prst="rect">
            <a:avLst/>
          </a:prstGeom>
          <a:solidFill>
            <a:srgbClr val="16213E"/>
          </a:solidFill>
          <a:ln w="12700">
            <a:solidFill>
              <a:srgbClr val="607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Findings from Literature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&gt; Attention = implicit gradient descent (von Oswald '23)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&gt; ICL creates task vectors in middle layers (Hendel '23)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&gt; Function vectors in specific heads (Todd, ICLR '24)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&gt; Format learning can overpower semantics (Min '22)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&gt; ICL uses label info in certain cases (Kossen '23)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&gt; Context C acts as "implicit training data"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200400"/>
            <a:ext cx="5029200" cy="3200400"/>
          </a:xfrm>
          <a:prstGeom prst="rect">
            <a:avLst/>
          </a:prstGeom>
          <a:solidFill>
            <a:srgbClr val="16213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329184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EF4444"/>
                </a:solidFill>
                <a:latin typeface="Calibri"/>
              </a:defRPr>
            </a:pPr>
            <a:r>
              <a:t>Known Failure Modes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x  Sensitive to demonstration ordering (recency bias)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x  Brittle to demo selection -- small changes, big shifts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x  No mechanism for negative demonstrations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x  Calibration problems (overconfident wrong answers)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x  Scales poorly with complex/many-step tasks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x  Context rot in production deployments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Unified ICL-CBIR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474720" cy="50292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108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2800" b="1">
                <a:solidFill>
                  <a:srgbClr val="008CFF"/>
                </a:solidFill>
                <a:latin typeface="Calibri"/>
              </a:defRPr>
            </a:pPr>
            <a:r>
              <a:t>QVM</a:t>
            </a:r>
          </a:p>
          <a:p>
            <a:pPr algn="ctr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Query Vector Movement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Classical (Rocchio):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q_new = a*q_old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     + b*mean(D+)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     - g*mean(D-)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Transformer: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h_new = h_old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+ Sum softmax(QK'/sqrt(d)) * V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  [OK] Residual = a*q_old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  [OK] Attention = b*relevance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EF4444"/>
                </a:solidFill>
                <a:latin typeface="Calibri"/>
              </a:defRPr>
            </a:pPr>
            <a:r>
              <a:t>  [!!] Missing g-term (repulsion)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3474720" cy="5029200"/>
          </a:xfrm>
          <a:prstGeom prst="rect">
            <a:avLst/>
          </a:prstGeom>
          <a:solidFill>
            <a:srgbClr val="16213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3108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2800" b="1">
                <a:solidFill>
                  <a:srgbClr val="7C3AED"/>
                </a:solidFill>
                <a:latin typeface="Calibri"/>
              </a:defRPr>
            </a:pPr>
            <a:r>
              <a:t>FRE</a:t>
            </a:r>
          </a:p>
          <a:p>
            <a:pPr algn="ctr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Feature Relevance Estimation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Classical (TPAMI 2005):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w_j proportional to 1/sigma_j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(inverse variance weighting)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d(q,x) = sqrt(Sum w_j*(q_j-x_j)^2)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Transformer: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Multi-head attn = subspace FRE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LayerNorm = axis rescaling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300" b="0">
                <a:solidFill>
                  <a:srgbClr val="F59E0B"/>
                </a:solidFill>
                <a:latin typeface="Calibri"/>
              </a:defRPr>
            </a:pPr>
            <a:r>
              <a:t>  [??] Implicit but uncontrolled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F59E0B"/>
                </a:solidFill>
                <a:latin typeface="Calibri"/>
              </a:defRPr>
            </a:pPr>
            <a:r>
              <a:t>  [??] Can we make it explicit?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280160"/>
            <a:ext cx="3474720" cy="50292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371600"/>
            <a:ext cx="3108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2800" b="1">
                <a:solidFill>
                  <a:srgbClr val="00D4AA"/>
                </a:solidFill>
                <a:latin typeface="Calibri"/>
              </a:defRPr>
            </a:pPr>
            <a:r>
              <a:t>BI</a:t>
            </a:r>
          </a:p>
          <a:p>
            <a:pPr algn="ctr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Bayesian Inference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Classical: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P(rel|x) ~ P(x|rel)*P(rel)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Transformer: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P(y|x,C) =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integral P(y|x,g)*P(g|C) dg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Context C infers latent task g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  [OK] Well-established analogy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  [OK] Pretraining = prior P(g)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FRE: The New Angle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02920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7C3AED"/>
                </a:solidFill>
                <a:latin typeface="Calibri"/>
              </a:defRPr>
            </a:pPr>
            <a:r>
              <a:t>Mathematical Formulation (TPAMI 2005)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0">
                <a:solidFill>
                  <a:srgbClr val="A0AEC0"/>
                </a:solidFill>
                <a:latin typeface="Calibri"/>
              </a:defRPr>
            </a:pPr>
            <a:r>
              <a:t>Given relevant set R = {I_1, ..., I_n}: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sigma_j = std(feature j across R)</a:t>
            </a:r>
          </a:p>
          <a:p>
            <a:pPr algn="l">
              <a:spcAft>
                <a:spcPts val="3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w_j = (1/sigma_j) / Sum_k(1/sigma_k)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Tight cluster --&gt; high weight (discriminative)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F59E0B"/>
                </a:solidFill>
                <a:latin typeface="Calibri"/>
              </a:defRPr>
            </a:pPr>
            <a:r>
              <a:t>Wide spread --&gt; low weight (uninformative)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02920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008CFF"/>
                </a:solidFill>
                <a:latin typeface="Calibri"/>
              </a:defRPr>
            </a:pPr>
            <a:r>
              <a:t>Transformer Analogues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Multi-Head Attention: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 Each head = FRE on a subspace of d_model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Normalization: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 Rescales axis-wise variance (implicit FRE)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Sparse Autoencoders (Anthropic '24):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 Decompose into monosemantic axes --&gt; explicit FRE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10515600" cy="2377440"/>
          </a:xfrm>
          <a:prstGeom prst="rect">
            <a:avLst/>
          </a:prstGeom>
          <a:solidFill>
            <a:srgbClr val="1A1430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160520"/>
            <a:ext cx="9875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900" b="1">
                <a:solidFill>
                  <a:srgbClr val="7C3AED"/>
                </a:solidFill>
                <a:latin typeface="Calibri"/>
              </a:defRPr>
            </a:pPr>
            <a:r>
              <a:t>Key Insight: FRE Bridges Classical IR and Modern Interpretability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FRE (1/sigma weighting)  &lt;--&gt;  Attention Scores  &lt;--&gt;  SAE Feature Activations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500" b="0">
                <a:solidFill>
                  <a:srgbClr val="A0AEC0"/>
                </a:solidFill>
                <a:latin typeface="Calibri"/>
              </a:defRPr>
            </a:pPr>
            <a:r>
              <a:t>All three solve the same fundamental problem:</a:t>
            </a:r>
          </a:p>
          <a:p>
            <a:pPr algn="l">
              <a:spcAft>
                <a:spcPts val="3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"Which dimensions of the representation space are relevant for this query/task?"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500" b="0">
                <a:solidFill>
                  <a:srgbClr val="10B981"/>
                </a:solidFill>
                <a:latin typeface="Calibri"/>
              </a:defRPr>
            </a:pPr>
            <a:r>
              <a:t>If ICL performs implicit FRE well --&gt; explain successes. If poorly --&gt; improve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Research Gaps Identified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Gap 1: Missing gamma-Term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Standard ICL has NO negative demonstration mechanism.</a:t>
            </a:r>
            <a:br/>
            <a:r>
              <a:t>The repulsive component of classical RF is absent.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087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Contrastive ICL (2024) begins addressing</a:t>
            </a:r>
            <a:br/>
            <a:r>
              <a:t>this but lacks QVM theoretical grounding.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1051560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Gap 2: Implicit FRE is Uncontrolled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Transformers may perform FRE implicitly via attention</a:t>
            </a:r>
            <a:br/>
            <a:r>
              <a:t>heads, but this is not verified or controllable.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834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No study connects classical FRE weighting</a:t>
            </a:r>
            <a:br/>
            <a:r>
              <a:t>(1/sigma_j) to attention dynamics.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1051560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Calibri"/>
              </a:defRPr>
            </a:pPr>
            <a:r>
              <a:t>Gap 3: Positional Bias vs.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Attention conflates positional proximity with semantic</a:t>
            </a:r>
            <a:br/>
            <a:r>
              <a:t>relevance. Recency bias corrupts QVM weighting.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1605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QVM uses content-based weights. ICL uses</a:t>
            </a:r>
            <a:br/>
            <a:r>
              <a:t>position-contaminated softmax scores.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166360"/>
            <a:ext cx="1051560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8CFF"/>
                </a:solidFill>
                <a:latin typeface="Calibri"/>
              </a:defRPr>
            </a:pPr>
            <a:r>
              <a:t>Gap 4: No Unified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QVM, FRE, and BI are studied in isolation. No one</a:t>
            </a:r>
            <a:br/>
            <a:r>
              <a:t>has unified them for understanding ICL.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4864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Our contribution: the first unified</a:t>
            </a:r>
            <a:br/>
            <a:r>
              <a:t>QVM-FRE-BI lens for ICL mechanism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Phase 1: Experimental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6 diagnostic modules to expose ICL failure modes through the QVM-FRE lens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1783080" cy="32004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02920" cy="320040"/>
          </a:xfrm>
          <a:prstGeom prst="rect">
            <a:avLst/>
          </a:prstGeom>
          <a:solidFill>
            <a:srgbClr val="008CFF"/>
          </a:solidFill>
          <a:ln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Latent Noise</a:t>
            </a:r>
            <a:br/>
            <a:r>
              <a:t>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Gaussian noise in</a:t>
            </a:r>
            <a:br/>
            <a:r>
              <a:t>value vectors --&gt;</a:t>
            </a:r>
            <a:br/>
            <a:r>
              <a:t>sensitivity 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206240"/>
            <a:ext cx="640080" cy="3200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1554480"/>
            <a:ext cx="1783080" cy="32004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77440" y="1645920"/>
            <a:ext cx="502920" cy="32004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77440" y="16459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05740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Attention</a:t>
            </a:r>
            <a:br/>
            <a:r>
              <a:t>Skewing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834640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Permute demo order</a:t>
            </a:r>
            <a:br/>
            <a:r>
              <a:t>--&gt; recency bias</a:t>
            </a:r>
            <a:br/>
            <a:r>
              <a:t>quantification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4206240"/>
            <a:ext cx="640080" cy="3200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34640" y="4206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554480"/>
            <a:ext cx="1783080" cy="3200400"/>
          </a:xfrm>
          <a:prstGeom prst="rect">
            <a:avLst/>
          </a:prstGeom>
          <a:solidFill>
            <a:srgbClr val="16213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97680" y="1645920"/>
            <a:ext cx="502920" cy="3200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80" y="16459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05740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Label Space</a:t>
            </a:r>
            <a:br/>
            <a:r>
              <a:t>Flipping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834640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Flip labels --&gt;</a:t>
            </a:r>
            <a:br/>
            <a:r>
              <a:t>format vs semantics</a:t>
            </a:r>
            <a:br/>
            <a:r>
              <a:t>strength 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4206240"/>
            <a:ext cx="64008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0" y="4206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554480"/>
            <a:ext cx="1783080" cy="3200400"/>
          </a:xfrm>
          <a:prstGeom prst="rect">
            <a:avLst/>
          </a:prstGeom>
          <a:solidFill>
            <a:srgbClr val="16213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1645920"/>
            <a:ext cx="502920" cy="3200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0" y="16459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05740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FRE</a:t>
            </a:r>
            <a:br/>
            <a:r>
              <a:t>Probing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834640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Per-dim ablation</a:t>
            </a:r>
            <a:br/>
            <a:r>
              <a:t>--&gt; implicit FRE</a:t>
            </a:r>
            <a:br/>
            <a:r>
              <a:t>quality measure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206240"/>
            <a:ext cx="640080" cy="3200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0" y="4206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1554480"/>
            <a:ext cx="1783080" cy="3200400"/>
          </a:xfrm>
          <a:prstGeom prst="rect">
            <a:avLst/>
          </a:prstGeom>
          <a:solidFill>
            <a:srgbClr val="16213E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38160" y="1645920"/>
            <a:ext cx="502920" cy="3200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38160" y="16459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205740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Gamma-Term</a:t>
            </a:r>
            <a:br/>
            <a:r>
              <a:t>Experiments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2834640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Negative demos +</a:t>
            </a:r>
            <a:br/>
            <a:r>
              <a:t>synthetic repulsion</a:t>
            </a:r>
            <a:br/>
            <a:r>
              <a:t>injection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95360" y="4206240"/>
            <a:ext cx="640080" cy="3200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95360" y="4206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66960" y="1554480"/>
            <a:ext cx="1783080" cy="3200400"/>
          </a:xfrm>
          <a:prstGeom prst="rect">
            <a:avLst/>
          </a:prstGeom>
          <a:solidFill>
            <a:srgbClr val="16213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058400" y="1645920"/>
            <a:ext cx="50292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058400" y="16459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205740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Task Vector</a:t>
            </a:r>
            <a:br/>
            <a:r>
              <a:t>Geometry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2834640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Extract &amp; analyze</a:t>
            </a:r>
            <a:br/>
            <a:r>
              <a:t>task vector</a:t>
            </a:r>
            <a:br/>
            <a:r>
              <a:t>structure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515600" y="4206240"/>
            <a:ext cx="64008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515600" y="4206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A0AEC0"/>
                </a:solidFill>
                <a:latin typeface="Calibri"/>
              </a:defRPr>
            </a:pPr>
            <a:r>
              <a:t>Priority:   P0 = Most Novel (do first)    P1 = High Value    P2 = Supporting Evidence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Convergence --&gt; Cross-module analysis --&gt; Unified sensitivity matrix --&gt; Problem formulation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Module 4: FRE Probing -- The Core Experiment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47472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7C3AED"/>
                </a:solidFill>
                <a:latin typeface="Calibri"/>
              </a:defRPr>
            </a:pPr>
            <a:r>
              <a:t>4a: Per-Dimension Sensitivity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Method: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A0AEC0"/>
                </a:solidFill>
                <a:latin typeface="Calibri"/>
              </a:defRPr>
            </a:pPr>
            <a:r>
              <a:t>Ablate each dimension j of h_q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A0AEC0"/>
                </a:solidFill>
                <a:latin typeface="Calibri"/>
              </a:defRPr>
            </a:pPr>
            <a:r>
              <a:t>Measure accuracy drop = importance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Output: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Ground-truth FRE weight vector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fre[j] = acc_full - acc_ablated[j]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188720"/>
            <a:ext cx="347472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128016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008CFF"/>
                </a:solidFill>
                <a:latin typeface="Calibri"/>
              </a:defRPr>
            </a:pPr>
            <a:r>
              <a:t>4b: Attention Head FRE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Method: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A0AEC0"/>
                </a:solidFill>
                <a:latin typeface="Calibri"/>
              </a:defRPr>
            </a:pPr>
            <a:r>
              <a:t>Measure each head's contribution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A0AEC0"/>
                </a:solidFill>
                <a:latin typeface="Calibri"/>
              </a:defRPr>
            </a:pPr>
            <a:r>
              <a:t>to each dimension of output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Output: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Head-FRE correlation score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pearsonr(head_contrib, fre)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188720"/>
            <a:ext cx="365760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128016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4c: SAE Feature Decomposition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Method: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A0AEC0"/>
                </a:solidFill>
                <a:latin typeface="Calibri"/>
              </a:defRPr>
            </a:pPr>
            <a:r>
              <a:t>Use Sparse Autoencoders to find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A0AEC0"/>
                </a:solidFill>
                <a:latin typeface="Calibri"/>
              </a:defRPr>
            </a:pPr>
            <a:r>
              <a:t>monosemantic features changed by ICL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Output: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ICL FRE map in interpretable space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delta = SAE(h_ICL) - SAE(h_zero)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23360"/>
            <a:ext cx="11155680" cy="2377440"/>
          </a:xfrm>
          <a:prstGeom prst="rect">
            <a:avLst/>
          </a:prstGeom>
          <a:solidFill>
            <a:srgbClr val="16213E"/>
          </a:solidFill>
          <a:ln w="12700">
            <a:solidFill>
              <a:srgbClr val="607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Expected Outcomes --&gt; Problem Formulation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A:  Strong implicit FRE --&gt; Importance concentrated on task-relevant axes --&gt; ICL feature selection works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EF4444"/>
                </a:solidFill>
                <a:latin typeface="Calibri"/>
              </a:defRPr>
            </a:pPr>
            <a:r>
              <a:t>B:  Weak/noisy FRE --&gt; Importance diffuse across all dims --&gt; PROBLEM: ICL wastes capacity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F59E0B"/>
                </a:solidFill>
                <a:latin typeface="Calibri"/>
              </a:defRPr>
            </a:pPr>
            <a:r>
              <a:t>C:  Unstable FRE --&gt; Weights vary wildly across demo sets --&gt; PROBLEM: implicit FRE not robust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0">
                <a:solidFill>
                  <a:srgbClr val="00D4AA"/>
                </a:solidFill>
                <a:latin typeface="Calibri"/>
              </a:defRPr>
            </a:pPr>
            <a:r>
              <a:t>Each outcome maps to a specific research direction for Phase 2 solution design.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Module 5: The Missing Gamma-Term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02920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EF4444"/>
                </a:solidFill>
                <a:latin typeface="Calibri"/>
              </a:defRPr>
            </a:pPr>
            <a:r>
              <a:t>The Missing Component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Rocchio QVM:</a:t>
            </a:r>
          </a:p>
          <a:p>
            <a:pPr algn="l">
              <a:spcAft>
                <a:spcPts val="3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q_new = a*q + b*mean(D+) - g*mean(D-)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07088"/>
                </a:solidFill>
                <a:latin typeface="Calibri"/>
              </a:defRPr>
            </a:pPr>
            <a:r>
              <a:t>          |           |           |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A0AEC0"/>
                </a:solidFill>
                <a:latin typeface="Calibri"/>
              </a:defRPr>
            </a:pPr>
            <a:r>
              <a:t>      residual   attraction  REPULSION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ICL Attention:</a:t>
            </a:r>
          </a:p>
          <a:p>
            <a:pPr algn="l">
              <a:spcAft>
                <a:spcPts val="3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h_new = h_old + Sum(attn*V)     ???</a:t>
            </a:r>
          </a:p>
          <a:p>
            <a:pPr algn="l">
              <a:spcAft>
                <a:spcPts val="300"/>
              </a:spcAft>
              <a:defRPr sz="1400" b="1">
                <a:solidFill>
                  <a:srgbClr val="EF4444"/>
                </a:solidFill>
                <a:latin typeface="Calibri"/>
              </a:defRPr>
            </a:pPr>
            <a:r>
              <a:t>          |          |        NO g-TERM!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02920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607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00D4AA"/>
                </a:solidFill>
                <a:latin typeface="Calibri"/>
              </a:defRPr>
            </a:pPr>
            <a:r>
              <a:t>Experimental Design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5a: Contrastive ICL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 Add negative demos --&gt; measure repulsion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 in latent space via cosine similarity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5b: Synthetic Gamma-Term Injection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 h_modified = h_q - gamma * neg_centroid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 Sweep gamma in {0.1, 0.3, 0.5, 0.7, 1.0}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 Measure accuracy at each gamma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49039"/>
            <a:ext cx="10515600" cy="2743200"/>
          </a:xfrm>
          <a:prstGeom prst="rect">
            <a:avLst/>
          </a:prstGeom>
          <a:solidFill>
            <a:srgbClr val="201215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886200"/>
            <a:ext cx="9875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EF4444"/>
                </a:solidFill>
                <a:latin typeface="Calibri"/>
              </a:defRPr>
            </a:pPr>
            <a:r>
              <a:t>Hypotheses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H1: Adding negative demonstrations will cause the query vector to move AWAY from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  incorrect class centroids in latent space (measurable via cosine distance increase).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H2: There exists an optimal gamma* that maximizes ICL accuracy. This gamma* will be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  task-dependent --&gt; need for a LEARNED repulsion mechanism (Phase 2: RL-based selection).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H3: The improvement from gamma-term will be larger for ambiguous/hard examples,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  where the query vector sits near the decision boundary between class manifolds.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8CFF"/>
          </a:solidFill>
          <a:ln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Evaluation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008CFF"/>
          </a:solidFill>
          <a:ln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2743200"/>
          </a:xfrm>
          <a:prstGeom prst="rect">
            <a:avLst/>
          </a:prstGeom>
          <a:solidFill>
            <a:srgbClr val="16213E"/>
          </a:solidFill>
          <a:ln w="12700">
            <a:solidFill>
              <a:srgbClr val="607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008CFF"/>
                </a:solidFill>
                <a:latin typeface="Calibri"/>
              </a:defRPr>
            </a:pPr>
            <a:r>
              <a:t>Benchmarks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0">
                <a:solidFill>
                  <a:srgbClr val="10B981"/>
                </a:solidFill>
                <a:latin typeface="Calibri"/>
              </a:defRPr>
            </a:pPr>
            <a:r>
              <a:t>Easy:     SST-2 (2-class)  |  MR (2-class)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F59E0B"/>
                </a:solidFill>
                <a:latin typeface="Calibri"/>
              </a:defRPr>
            </a:pPr>
            <a:r>
              <a:t>Medium:   AGNews (4-class) |  TREC (6-class)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EF4444"/>
                </a:solidFill>
                <a:latin typeface="Calibri"/>
              </a:defRPr>
            </a:pPr>
            <a:r>
              <a:t>Hard:     DBPedia (14-class) | SST-5 (5-class)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7C3AED"/>
                </a:solidFill>
                <a:latin typeface="Calibri"/>
              </a:defRPr>
            </a:pPr>
            <a:r>
              <a:t>Reason:   GSM8K subset | BoolQ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Standardized templates (StaICC) to isolate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mechanism from prompt engineering effects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029200" cy="2743200"/>
          </a:xfrm>
          <a:prstGeom prst="rect">
            <a:avLst/>
          </a:prstGeom>
          <a:solidFill>
            <a:srgbClr val="16213E"/>
          </a:solidFill>
          <a:ln w="12700">
            <a:solidFill>
              <a:srgbClr val="607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008CFF"/>
                </a:solidFill>
                <a:latin typeface="Calibri"/>
              </a:defRPr>
            </a:pPr>
            <a:r>
              <a:t>Models (Open-Weight)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0">
                <a:solidFill>
                  <a:srgbClr val="A0AEC0"/>
                </a:solidFill>
                <a:latin typeface="Calibri"/>
              </a:defRPr>
            </a:pPr>
            <a:r>
              <a:t>GPT-2 Small (124M) -- fast iteration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A0AEC0"/>
                </a:solidFill>
                <a:latin typeface="Calibri"/>
              </a:defRPr>
            </a:pPr>
            <a:r>
              <a:t>GPT-2 Large (774M) -- scale comparison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A0AEC0"/>
                </a:solidFill>
                <a:latin typeface="Calibri"/>
              </a:defRPr>
            </a:pPr>
            <a:r>
              <a:t>Pythia-1.4B / 6.9B -- interp. support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A0AEC0"/>
                </a:solidFill>
                <a:latin typeface="Calibri"/>
              </a:defRPr>
            </a:pPr>
            <a:r>
              <a:t>LLaMA-2/3 (7-8B) -- production scale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300" b="0">
                <a:solidFill>
                  <a:srgbClr val="F59E0B"/>
                </a:solidFill>
                <a:latin typeface="Calibri"/>
              </a:defRPr>
            </a:pPr>
            <a:r>
              <a:t>All require access to internal activations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F59E0B"/>
                </a:solidFill>
                <a:latin typeface="Calibri"/>
              </a:defRPr>
            </a:pPr>
            <a:r>
              <a:t>for probing, patching, and FRE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06240"/>
            <a:ext cx="11155680" cy="2194560"/>
          </a:xfrm>
          <a:prstGeom prst="rect">
            <a:avLst/>
          </a:prstGeom>
          <a:solidFill>
            <a:srgbClr val="16213E"/>
          </a:solidFill>
          <a:ln w="12700">
            <a:solidFill>
              <a:srgbClr val="607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00D4AA"/>
                </a:solidFill>
                <a:latin typeface="Calibri"/>
              </a:defRPr>
            </a:pPr>
            <a:r>
              <a:t>Metrics -- Beyond Black-Box Accuracy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Performance:  Accuracy, Macro-F1, ECE (calibration)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Representation:  Cosine similarity, L2 distance, KL divergence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FRE-specific:  Dimension ablation score, FRE entropy, cross-task overlap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Geometry:  Task vector inter/intra-class distance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All: mean +/- std over &gt;=5 seeds  |  Paired t-tests  |  Bootstrap CIs  |  Cohen's 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Timeline &amp;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737360" cy="22860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8CFF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9456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Model loading</a:t>
            </a:r>
            <a:br/>
            <a:r>
              <a:t>Activation hooks</a:t>
            </a:r>
            <a:br/>
            <a:r>
              <a:t>Eval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280160"/>
            <a:ext cx="1737360" cy="2286000"/>
          </a:xfrm>
          <a:prstGeom prst="rect">
            <a:avLst/>
          </a:prstGeom>
          <a:solidFill>
            <a:srgbClr val="16213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3172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3AED"/>
                </a:solidFill>
                <a:latin typeface="Calibri"/>
              </a:defRPr>
            </a:pPr>
            <a:r>
              <a:t>Week 2-3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737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FRE Probing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19456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Per-dim sensitivity</a:t>
            </a:r>
            <a:br/>
            <a:r>
              <a:t>Head FRE analysis</a:t>
            </a:r>
            <a:br/>
            <a:r>
              <a:t>SAE decomposition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280160"/>
            <a:ext cx="1737360" cy="2286000"/>
          </a:xfrm>
          <a:prstGeom prst="rect">
            <a:avLst/>
          </a:prstGeom>
          <a:solidFill>
            <a:srgbClr val="16213E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5196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Week 3-4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1737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Gamma-Term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19456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Contrastive ICL</a:t>
            </a:r>
            <a:br/>
            <a:r>
              <a:t>Synthetic gamma</a:t>
            </a:r>
            <a:br/>
            <a:r>
              <a:t>injection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280160"/>
            <a:ext cx="1737360" cy="22860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AA"/>
                </a:solidFill>
                <a:latin typeface="Calibri"/>
              </a:defRPr>
            </a:pPr>
            <a:r>
              <a:t>Week 4-5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737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Perturbations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19456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Noise injection</a:t>
            </a:r>
            <a:br/>
            <a:r>
              <a:t>Order permutation</a:t>
            </a:r>
            <a:br/>
            <a:r>
              <a:t>Label flipping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280160"/>
            <a:ext cx="1737360" cy="2286000"/>
          </a:xfrm>
          <a:prstGeom prst="rect">
            <a:avLst/>
          </a:prstGeom>
          <a:solidFill>
            <a:srgbClr val="16213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244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Week 5-6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1737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Geometry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19456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Task vectors</a:t>
            </a:r>
            <a:br/>
            <a:r>
              <a:t>Extraction</a:t>
            </a:r>
            <a:br/>
            <a:r>
              <a:t>Stability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66960" y="1280160"/>
            <a:ext cx="1737360" cy="2286000"/>
          </a:xfrm>
          <a:prstGeom prst="rect">
            <a:avLst/>
          </a:prstGeom>
          <a:solidFill>
            <a:srgbClr val="16213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1268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Week 7-8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1737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Synthesis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219456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Cross-module</a:t>
            </a:r>
            <a:br/>
            <a:r>
              <a:t>analysis + Problem</a:t>
            </a:r>
            <a:br/>
            <a:r>
              <a:t>formulation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657600"/>
            <a:ext cx="11155680" cy="381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3931920"/>
            <a:ext cx="5303520" cy="2468880"/>
          </a:xfrm>
          <a:prstGeom prst="rect">
            <a:avLst/>
          </a:prstGeom>
          <a:solidFill>
            <a:srgbClr val="16213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0233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DO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Start with GPT-2, scale up to LLaMA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Use standardized prompts (StaICC)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Report with confidence intervals (&gt;=5 seeds)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Prioritize FRE (M4) and gamma-term (M5) first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Look for cross-module patterns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Treat null results as findings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931920"/>
            <a:ext cx="5303520" cy="2468880"/>
          </a:xfrm>
          <a:prstGeom prst="rect">
            <a:avLst/>
          </a:prstGeom>
          <a:solidFill>
            <a:srgbClr val="16213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40233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EF4444"/>
                </a:solidFill>
                <a:latin typeface="Calibri"/>
              </a:defRPr>
            </a:pPr>
            <a:r>
              <a:t>DON'T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Jump to solutions before diagnosis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Overfit to one model/dataset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Use only accuracy (need latent metrics)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Confuse prompt engineering with mechanism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Skip statistical rigor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Run all experiments simultaneously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Problem Identification --&gt; Solution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07088"/>
                </a:solidFill>
                <a:latin typeface="Calibri"/>
              </a:defRPr>
            </a:pPr>
            <a:r>
              <a:t>EXPERIMENTAL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07088"/>
                </a:solidFill>
                <a:latin typeface="Calibri"/>
              </a:defRPr>
            </a:pPr>
            <a:r>
              <a:t>PROBLEM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07088"/>
                </a:solidFill>
                <a:latin typeface="Calibri"/>
              </a:defRPr>
            </a:pPr>
            <a:r>
              <a:t>PHASE 2 DIRECTION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01752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Calibri"/>
              </a:defRPr>
            </a:pPr>
            <a:r>
              <a:t>IF M4 shows weak FRE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810512"/>
            <a:ext cx="457200" cy="381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0" y="1463040"/>
            <a:ext cx="347472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607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0" y="1508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ICL lacks feature</a:t>
            </a:r>
            <a:br/>
            <a:r>
              <a:t>selection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1810512"/>
            <a:ext cx="274320" cy="381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463040"/>
            <a:ext cx="365760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15087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Inject explicit FRE via</a:t>
            </a:r>
            <a:br/>
            <a:r>
              <a:t>learned axis weighting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68880"/>
            <a:ext cx="301752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5603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IF M5: gamma-term helps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2816352"/>
            <a:ext cx="457200" cy="381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0" y="2468880"/>
            <a:ext cx="347472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607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06240" y="2514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ICL missing</a:t>
            </a:r>
            <a:br/>
            <a:r>
              <a:t>repulsion mechanism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2816352"/>
            <a:ext cx="274320" cy="381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2468880"/>
            <a:ext cx="365760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0" y="2514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Contrastive attention /</a:t>
            </a:r>
            <a:br/>
            <a:r>
              <a:t>repulsive residuals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74720"/>
            <a:ext cx="301752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35661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CFF"/>
                </a:solidFill>
                <a:latin typeface="Calibri"/>
              </a:defRPr>
            </a:pPr>
            <a:r>
              <a:t>IF M2: recency bias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3822192"/>
            <a:ext cx="457200" cy="38100"/>
          </a:xfrm>
          <a:prstGeom prst="rect">
            <a:avLst/>
          </a:prstGeom>
          <a:solidFill>
            <a:srgbClr val="008CFF"/>
          </a:solidFill>
          <a:ln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4800" y="3474720"/>
            <a:ext cx="347472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607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06240" y="3520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QVM weighting is</a:t>
            </a:r>
            <a:br/>
            <a:r>
              <a:t>corrupted by position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3822192"/>
            <a:ext cx="274320" cy="38100"/>
          </a:xfrm>
          <a:prstGeom prst="rect">
            <a:avLst/>
          </a:prstGeom>
          <a:solidFill>
            <a:srgbClr val="008CFF"/>
          </a:solidFill>
          <a:ln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46720" y="3474720"/>
            <a:ext cx="365760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38160" y="35204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Positional debiasing /</a:t>
            </a:r>
            <a:br/>
            <a:r>
              <a:t>Rocchio-inspired weights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480560"/>
            <a:ext cx="301752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5720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IF M3: format &gt; semantics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828032"/>
            <a:ext cx="457200" cy="3810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114800" y="4480560"/>
            <a:ext cx="347472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607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06240" y="45262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Format overpowers</a:t>
            </a:r>
            <a:br/>
            <a:r>
              <a:t>content understanding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0" y="4828032"/>
            <a:ext cx="274320" cy="3810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46720" y="4480560"/>
            <a:ext cx="365760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38160" y="45262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Layer interventions for</a:t>
            </a:r>
            <a:br/>
            <a:r>
              <a:t>semantic features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486400"/>
            <a:ext cx="301752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55778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IF M6: unstable vectors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66160" y="5833872"/>
            <a:ext cx="457200" cy="381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14800" y="5486400"/>
            <a:ext cx="347472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607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06240" y="55321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Task vectors not</a:t>
            </a:r>
            <a:br/>
            <a:r>
              <a:t>robust to demo choice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60" y="5833872"/>
            <a:ext cx="274320" cy="381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46720" y="5486400"/>
            <a:ext cx="365760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38160" y="55321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Task vector regularization /</a:t>
            </a:r>
            <a:br/>
            <a:r>
              <a:t>demo-agnostic encoding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Big Picture: Cross-Disciplinary Bridge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4114800" cy="4572000"/>
          </a:xfrm>
          <a:prstGeom prst="rect">
            <a:avLst/>
          </a:prstGeom>
          <a:solidFill>
            <a:srgbClr val="16213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4114800" cy="4572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Classical CBIR (2005)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  &gt;  User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  &gt;  Feature variance sigma_j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&gt;  FRE weights (1/sigma_j)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&gt;  QVM (query movement)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  &gt;  Bayesian 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  &gt;  RL policy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  &gt;  Long-term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2004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AA"/>
                </a:solidFill>
                <a:latin typeface="Calibri"/>
              </a:defRPr>
            </a:pPr>
            <a:r>
              <a:t>=== formal ===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AA"/>
                </a:solidFill>
                <a:latin typeface="Calibri"/>
              </a:defRPr>
            </a:pPr>
            <a:r>
              <a:t>analogy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371600"/>
            <a:ext cx="4114800" cy="45720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0" y="1371600"/>
            <a:ext cx="4114800" cy="457200"/>
          </a:xfrm>
          <a:prstGeom prst="rect">
            <a:avLst/>
          </a:prstGeom>
          <a:solidFill>
            <a:srgbClr val="008CFF"/>
          </a:solidFill>
          <a:ln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Modern Transformers (2024+)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  &gt;  Demonstration examples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  &gt;  Attention pattern stats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&gt;  Implicit per-head weighting (?)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&gt;  Residual stream updates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  &gt;  Logit computation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  &gt;  Layer/head specialization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  &gt;  Pre-trained weights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solidFill>
            <a:srgbClr val="102030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Calibri"/>
              </a:defRPr>
            </a:pPr>
            <a:r>
              <a:t>Contribution: First systematic study viewing ICL through the unified QVM-FRE-BI lens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Expected Contributions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03520" cy="2743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900" b="1">
                <a:solidFill>
                  <a:srgbClr val="008CFF"/>
                </a:solidFill>
                <a:latin typeface="Calibri"/>
              </a:defRPr>
            </a:pPr>
            <a:r>
              <a:t>Phase 1 Deliverables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1. Modular experimental codebase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A0AEC0"/>
                </a:solidFill>
                <a:latin typeface="Calibri"/>
              </a:defRPr>
            </a:pPr>
            <a:r>
              <a:t>   Activation extraction, intervention, evaluation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2. First FRE-ICL analysis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A0AEC0"/>
                </a:solidFill>
                <a:latin typeface="Calibri"/>
              </a:defRPr>
            </a:pPr>
            <a:r>
              <a:t>   Classical FRE &lt;--&gt; attention dynamics connection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3. Failure taxonomy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A0AEC0"/>
                </a:solidFill>
                <a:latin typeface="Calibri"/>
              </a:defRPr>
            </a:pPr>
            <a:r>
              <a:t>   Categorized ICL failures as latent space issues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4. Precise problem statement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A0AEC0"/>
                </a:solidFill>
                <a:latin typeface="Calibri"/>
              </a:defRPr>
            </a:pPr>
            <a:r>
              <a:t>   With quantitative evidence from 6 modules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029200" cy="2743200"/>
          </a:xfrm>
          <a:prstGeom prst="rect">
            <a:avLst/>
          </a:prstGeom>
          <a:solidFill>
            <a:srgbClr val="16213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900" b="1">
                <a:solidFill>
                  <a:srgbClr val="10B981"/>
                </a:solidFill>
                <a:latin typeface="Calibri"/>
              </a:defRPr>
            </a:pPr>
            <a:r>
              <a:t>Phase 2 Directions (Tentative)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400" b="0">
                <a:solidFill>
                  <a:srgbClr val="7C3AED"/>
                </a:solidFill>
                <a:latin typeface="Calibri"/>
              </a:defRPr>
            </a:pPr>
            <a:r>
              <a:t>A: Explicit FRE Injection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A0AEC0"/>
                </a:solidFill>
                <a:latin typeface="Calibri"/>
              </a:defRPr>
            </a:pPr>
            <a:r>
              <a:t>   Learned axis weighting for ICL improvement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EF4444"/>
                </a:solidFill>
                <a:latin typeface="Calibri"/>
              </a:defRPr>
            </a:pPr>
            <a:r>
              <a:t>B: Gamma-Term Implementation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A0AEC0"/>
                </a:solidFill>
                <a:latin typeface="Calibri"/>
              </a:defRPr>
            </a:pPr>
            <a:r>
              <a:t>   Contrastive attention mechanism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F59E0B"/>
                </a:solidFill>
                <a:latin typeface="Calibri"/>
              </a:defRPr>
            </a:pPr>
            <a:r>
              <a:t>C: RL-Based RF Selection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A0AEC0"/>
                </a:solidFill>
                <a:latin typeface="Calibri"/>
              </a:defRPr>
            </a:pPr>
            <a:r>
              <a:t>   Mirroring IRRL (TPAMI 2005) for LLMs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00D4AA"/>
                </a:solidFill>
                <a:latin typeface="Calibri"/>
              </a:defRPr>
            </a:pPr>
            <a:r>
              <a:t>D: Task Vector Regularization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A0AEC0"/>
                </a:solidFill>
                <a:latin typeface="Calibri"/>
              </a:defRPr>
            </a:pPr>
            <a:r>
              <a:t>   Robust, demo-agnostic task encoding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06240"/>
            <a:ext cx="11155680" cy="2194560"/>
          </a:xfrm>
          <a:prstGeom prst="rect">
            <a:avLst/>
          </a:prstGeom>
          <a:solidFill>
            <a:srgbClr val="0F1F1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10241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200" b="1">
                <a:solidFill>
                  <a:srgbClr val="10B981"/>
                </a:solidFill>
                <a:latin typeface="Calibri"/>
              </a:defRPr>
            </a:pPr>
            <a:r>
              <a:t>The Vision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Classical CBIR invested decades perfecting relevance feedback with QVM + FRE + BI.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Modern ICL performs these operations implicitly but incompletely.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By understanding WHERE ICL's implicit RF fails, we can design principled interventions</a:t>
            </a:r>
          </a:p>
          <a:p>
            <a:pPr algn="l">
              <a:spcAft>
                <a:spcPts val="3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that bring the full power of classical relevance feedback into the transformer 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8CFF"/>
          </a:solidFill>
          <a:ln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834640"/>
            <a:ext cx="2103120" cy="5080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3108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0AEC0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062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Pratyay Dutta</a:t>
            </a:r>
          </a:p>
          <a:p>
            <a:pPr algn="ctr">
              <a:spcAft>
                <a:spcPts val="300"/>
              </a:spcAft>
              <a:defRPr sz="1600" b="0">
                <a:solidFill>
                  <a:srgbClr val="00D4AA"/>
                </a:solidFill>
                <a:latin typeface="Calibri"/>
              </a:defRPr>
            </a:pPr>
            <a:r>
              <a:t>pdutta@ucr.edu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ctr">
              <a:spcAft>
                <a:spcPts val="300"/>
              </a:spcAft>
              <a:defRPr sz="1600" b="0">
                <a:solidFill>
                  <a:srgbClr val="A0AEC0"/>
                </a:solidFill>
                <a:latin typeface="Calibri"/>
              </a:defRPr>
            </a:pPr>
            <a:r>
              <a:t>Department of Computer Science</a:t>
            </a:r>
          </a:p>
          <a:p>
            <a:pPr algn="ctr">
              <a:spcAft>
                <a:spcPts val="300"/>
              </a:spcAft>
              <a:defRPr sz="1600" b="0">
                <a:solidFill>
                  <a:srgbClr val="A0AEC0"/>
                </a:solidFill>
                <a:latin typeface="Calibri"/>
              </a:defRPr>
            </a:pPr>
            <a:r>
              <a:t>University of California, Riverside</a:t>
            </a:r>
          </a:p>
          <a:p>
            <a:pPr algn="ctr">
              <a:spcAft>
                <a:spcPts val="300"/>
              </a:spcAft>
              <a:defRPr sz="1600" b="0">
                <a:solidFill>
                  <a:srgbClr val="A0AEC0"/>
                </a:solidFill>
                <a:latin typeface="Calibri"/>
              </a:defRPr>
            </a:pPr>
            <a:r>
              <a:t>Lawrence Livermore National Laboratory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</TotalTime>
  <Words>2223</Words>
  <Application>Microsoft Office PowerPoint</Application>
  <PresentationFormat>Widescreen</PresentationFormat>
  <Paragraphs>365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Pratyay Dutta</cp:lastModifiedBy>
  <cp:revision>3</cp:revision>
  <dcterms:created xsi:type="dcterms:W3CDTF">2013-01-27T09:14:16Z</dcterms:created>
  <dcterms:modified xsi:type="dcterms:W3CDTF">2026-06-14T23:14:13Z</dcterms:modified>
  <cp:category/>
</cp:coreProperties>
</file>