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91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From In-Context Learning to Steering</a:t>
            </a:r>
          </a:p>
          <a:p>
            <a:r>
              <a:rPr sz="1900" b="0" i="0">
                <a:solidFill>
                  <a:srgbClr val="C9D7F0"/>
                </a:solidFill>
                <a:latin typeface="Calibri"/>
              </a:rPr>
              <a:t>A literature survey toward query-conditional latent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1" i="0">
                <a:solidFill>
                  <a:srgbClr val="1A2B4A"/>
                </a:solidFill>
                <a:latin typeface="Calibri"/>
              </a:rPr>
              <a:t>Three papers, one thread: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①  GPT-3 — learning from examples in the prompt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②  In-Context Vectors — moving the task signal into the activations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③  LIVE — learning that vector for harder, multimodal tasks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…then: open questions toward a possible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1">
                <a:solidFill>
                  <a:srgbClr val="5F6670"/>
                </a:solidFill>
                <a:latin typeface="Calibri"/>
              </a:rPr>
              <a:t>Research discussion  ·  In-Context Learning / Activation Steering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554480" cy="50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A73E8"/>
                </a:solidFill>
                <a:latin typeface="Calibri"/>
              </a:rPr>
              <a:t>PAPER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Language Models are Few-Shot Learners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>
                <a:solidFill>
                  <a:srgbClr val="BFD0EA"/>
                </a:solidFill>
                <a:latin typeface="Calibri"/>
              </a:rPr>
              <a:t>Brown et al., NeurIPS 2020  —  GPT-3  ·  the case for learning in the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GPT-3  ·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The fine-tuning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676656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Every new task needed its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own labeled dataset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and a round of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gradient updates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Costly to collect data; a fresh fine-tuned model per task.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Narrow fine-tuning can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overfit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 and generalize poorly out-of-distribution.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Humans don't work this way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a short instruction or a couple of examples is enough.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The goal: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one task-agnostic model that adapts at inference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, with no weight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74519"/>
            <a:ext cx="3977639" cy="3383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1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20574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A2B4A"/>
                </a:solidFill>
                <a:latin typeface="Calibri"/>
              </a:rPr>
              <a:t>Two ways to teach a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560320"/>
            <a:ext cx="3520440" cy="105156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E87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26517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E8710A"/>
                </a:solidFill>
                <a:latin typeface="Calibri"/>
              </a:rPr>
              <a:t>Fine-tuning</a:t>
            </a:r>
          </a:p>
          <a:p>
            <a:r>
              <a:rPr sz="1050" b="0" i="0">
                <a:solidFill>
                  <a:srgbClr val="5F6670"/>
                </a:solidFill>
                <a:latin typeface="Calibri"/>
              </a:rPr>
              <a:t>new data + gradient updates, per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49039"/>
            <a:ext cx="3520440" cy="13258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3840480"/>
            <a:ext cx="3291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In-context learning</a:t>
            </a:r>
          </a:p>
          <a:p>
            <a:r>
              <a:rPr sz="1050" b="0" i="0">
                <a:solidFill>
                  <a:srgbClr val="5F6670"/>
                </a:solidFill>
                <a:latin typeface="Calibri"/>
              </a:rPr>
              <a:t>describe the task + show a few examples in the prompt — no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Reframe adaptation from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changing weights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to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conditioning on a prompt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GPT-3  ·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Scale + a prompt, instead of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109728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Scale is the lever: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a 175B-parameter autoregressive LM, ~10× larger than prior models.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Adapt by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conditioning on a prompt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a task description and/or K worked examples.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Demonstrations sit in the context window; the model infers the pattern and completes the query.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Four regimes compared —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only fine-tuning touches the weights: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5760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Fine-tuning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gradient updates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9252" y="400050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96996" y="365760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0148" y="365760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Few-shot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K examples in prompt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400050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27064" y="365760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365760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One-shot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1 example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19388" y="400050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57132" y="365760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0284" y="365760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Zero-shot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instruction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9204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89204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8920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Same frozen model, same architecture —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the prompt selects the task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GPT-3  ·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Why it works: ICL as fast 'meta-learning'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Two learning loops: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slow pre-training (outer loop) builds broad skills;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fast in-context adaptation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(inner loop) picks the task at runtime.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Demonstrations steer the model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implicitly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attention shifts the internal activations toward the demonstrated task.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In-context learning is an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emergent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ability: it sharpens as models get bigger.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The gap between zero-, one-, and few-shot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widens with scale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 — larger models are better in-context learners.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The 'learning' happens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inside the activations at inference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— no parameters move.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GPT-3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One model, many tasks — from text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Few-shot accuracy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rises with both model size and the number of demonstrations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Competitive with — occasionally beating —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fine-tuned SOTA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(e.g. closed-book TriviaQA).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No task-specific architecture or data pipeline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tasks are specified purely in text.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Translation, QA, cloze, comprehension — all from the same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Proof of concept: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a general model adapts on the fly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— the prompt is the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10A"/>
                </a:solidFill>
                <a:latin typeface="Calibri"/>
              </a:rPr>
              <a:t>GPT-3  ·  SHORTCOMINGS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What in-context learning pays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Demonstrations cost context tokens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the window is bounded (2048), so more examples = more compute and a hard ceiling.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Brittle and uneven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performance swings with the choice of template, verbalizer, and the selection &amp; order of examples.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Control is implicit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you cannot dial the strength of the task signal; attention decides how much to shift.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8710A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The task signal is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real but trapped in the prompt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— expensive, fragile, and not tunable.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10A"/>
                </a:solidFill>
                <a:latin typeface="Calibri"/>
              </a:rPr>
              <a:t>GPT-3 →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If the signal lives in the activations…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GPT-3 shows the task signal is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carried by the model's internal states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, but delivers it the slow way — through tokens in the prompt.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Open question: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can we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extract that signal once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and inject it directly into the activations — no demos in the context, and with a strength we control?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Next: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In-Context Vectors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— turn the prompt's effect into a single steerable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554480" cy="50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A73E8"/>
                </a:solidFill>
                <a:latin typeface="Calibri"/>
              </a:rPr>
              <a:t>PAPER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In-Context Vectors (ICV)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>
                <a:solidFill>
                  <a:srgbClr val="BFD0EA"/>
                </a:solidFill>
                <a:latin typeface="Calibri"/>
              </a:rPr>
              <a:t>Liu et al., ICML 2024  —  making ICL effective &amp; controllable via latent-space steering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ICV  ·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Make the hidden 'shift' explicit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ICL is effective but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token-hungry, brittle, and hard to control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(the GPT-3 pain points).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Key insight: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in-context learning is really just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'shifting' the latent states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attention nudges activations from the input toward the demonstrated answer.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Today that shift is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silent and automatic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. So: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can we make it explicit, controllable, and free of prompt tokens?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Stop paying for demonstrations every query —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summarize them once into a vector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ICV  ·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From demonstrations to one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Recast ICL as a single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In-Context Vector (ICV)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in latent space.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Step 1 — Task summary: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one forward pass over the demos; read the latent states for each input x and target 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ICV = the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first principal direction (PCA) of h(y) − h(x)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the dominant 'input → target' move.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Training-free: no fine-tuning, no extra parameters — just a PCA over a handful of demos.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Demos (x, y)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few examples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9252" y="450342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96996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0148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Forward pass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read latent states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450342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27064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h(y) − h(x)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per-pair difference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19388" y="450342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57132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0284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PCA → ICV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principal direction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21208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2120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The whole demonstration set collapses into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one direction in activation space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ICV  ·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Steer the query, with a knob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Step 2 — Feature shifting: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add the ICV to the query's latent states across the model, then generate.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The prompt holds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no demonstrations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just the query. Demos already live in the vector.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Strength is a dial: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scale the ICV's magnitude to turn task adherence up or down.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Bounded context is no longer a limit — a vector can summarize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more demos than would fit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Explicit, tunable control —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you set how hard to steer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, instead of leaving it to attention.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ICV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Cheaper, stronger, composable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Near-zero overhead: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demos summarized once; no per-query token cost.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Beats ICL and LoRA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on safety/detox, style transfer, role-play, and formatting (Falcon, Llama).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Skills compose by vector arithmetic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add ICVs to follow several instructions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206240"/>
            <a:ext cx="3517392" cy="868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337108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Detox vector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02608" y="454914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0352" y="4206240"/>
            <a:ext cx="3517392" cy="868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3504" y="4206240"/>
            <a:ext cx="337108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+  Formality vector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76032" y="454914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13776" y="4206240"/>
            <a:ext cx="3517392" cy="868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6928" y="4206240"/>
            <a:ext cx="337108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=  Combined steer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one query, two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578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52578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Latent steering =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ICL's effect, minus the prompt cost, plus an explicit control surface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10A"/>
                </a:solidFill>
                <a:latin typeface="Calibri"/>
              </a:rPr>
              <a:t>ICV  ·  SHORTCOMINGS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One global vector for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A single vector per task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the </a:t>
            </a:r>
            <a:r>
              <a:rPr sz="1700" b="0" i="1">
                <a:solidFill>
                  <a:srgbClr val="20242B"/>
                </a:solidFill>
                <a:latin typeface="Calibri"/>
              </a:rPr>
              <a:t>same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shift is applied to </a:t>
            </a:r>
            <a:r>
              <a:rPr sz="1700" b="0" i="1">
                <a:solidFill>
                  <a:srgbClr val="20242B"/>
                </a:solidFill>
                <a:latin typeface="Calibri"/>
              </a:rPr>
              <a:t>every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query, regardless of what it is asking.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The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non-learnable PCA summary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is a coarse average; it can't capture a task with many internal sub-types.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Works on 'easy', uniform patterns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(antonyms, country→capital) but frays when one task hides many question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8710A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A global average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helps some inputs and silently hurts others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— and PCA can't carry rich tasks.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10A"/>
                </a:solidFill>
                <a:latin typeface="Calibri"/>
              </a:rPr>
              <a:t>ICV →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When one direction isn't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A fixed PCA direction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can't represent a task that is really many tasks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e.g. Visual QA, where 'what is this?' and 'how many?' need different abilities.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Open question: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instead of </a:t>
            </a:r>
            <a:r>
              <a:rPr sz="1700" b="0" i="1">
                <a:solidFill>
                  <a:srgbClr val="20242B"/>
                </a:solidFill>
                <a:latin typeface="Calibri"/>
              </a:rPr>
              <a:t>reading off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a direction with PCA, can we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learn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a vector that distills the task signal PCA misses?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Next: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LIVE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— a learnable in-context vector for harder, multimodal tasks.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554480" cy="50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A73E8"/>
                </a:solidFill>
                <a:latin typeface="Calibri"/>
              </a:rPr>
              <a:t>PAPER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LIVE: Learnable In-Context Vector for VQA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>
                <a:solidFill>
                  <a:srgbClr val="BFD0EA"/>
                </a:solidFill>
                <a:latin typeface="Calibri"/>
              </a:rPr>
              <a:t>Peng et al., NeurIPS 2024  —  learning the steering vector for multimodal tasks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LIVE  ·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Steering vectors for multimodal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50" b="0" i="0">
                <a:solidFill>
                  <a:srgbClr val="20242B"/>
                </a:solidFill>
                <a:latin typeface="Calibri"/>
              </a:rPr>
              <a:t>Extend in-context vectors to </a:t>
            </a:r>
            <a:r>
              <a:rPr sz="1650" b="1" i="0">
                <a:solidFill>
                  <a:srgbClr val="1A73E8"/>
                </a:solidFill>
                <a:latin typeface="Calibri"/>
              </a:rPr>
              <a:t>Large Multimodal Models</a:t>
            </a:r>
            <a:r>
              <a:rPr sz="1650" b="0" i="0">
                <a:solidFill>
                  <a:srgbClr val="20242B"/>
                </a:solidFill>
                <a:latin typeface="Calibri"/>
              </a:rPr>
              <a:t> (e.g. IDEFICS/Flamingo), where ICL is </a:t>
            </a:r>
            <a:r>
              <a:rPr sz="1650" b="1" i="0">
                <a:solidFill>
                  <a:srgbClr val="1A73E8"/>
                </a:solidFill>
                <a:latin typeface="Calibri"/>
              </a:rPr>
              <a:t>even costlier and more brittle</a:t>
            </a:r>
            <a:r>
              <a:rPr sz="1650" b="0" i="0">
                <a:solidFill>
                  <a:srgbClr val="20242B"/>
                </a:solidFill>
                <a:latin typeface="Calibri"/>
              </a:rPr>
              <a:t> — images make demonstrations huge and selection harder.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i="0">
                <a:solidFill>
                  <a:srgbClr val="1A73E8"/>
                </a:solidFill>
                <a:latin typeface="Calibri"/>
              </a:rPr>
              <a:t>▶  Non-learnable ICVs (PCA / mean-diff) collapse on VQA:</a:t>
            </a:r>
            <a:r>
              <a:rPr sz="1650" b="0" i="0">
                <a:solidFill>
                  <a:srgbClr val="20242B"/>
                </a:solidFill>
                <a:latin typeface="Calibri"/>
              </a:rPr>
              <a:t> one vector can't cover a task that bundles classification, counting, reading, and more.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i="0">
                <a:solidFill>
                  <a:srgbClr val="1A73E8"/>
                </a:solidFill>
                <a:latin typeface="Calibri"/>
              </a:rPr>
              <a:t>▶  Open question:</a:t>
            </a:r>
            <a:r>
              <a:rPr sz="1650" b="0" i="0">
                <a:solidFill>
                  <a:srgbClr val="20242B"/>
                </a:solidFill>
                <a:latin typeface="Calibri"/>
              </a:rPr>
              <a:t> can the vector be </a:t>
            </a:r>
            <a:r>
              <a:rPr sz="1650" b="1" i="0">
                <a:solidFill>
                  <a:srgbClr val="1A73E8"/>
                </a:solidFill>
                <a:latin typeface="Calibri"/>
              </a:rPr>
              <a:t>learned</a:t>
            </a:r>
            <a:r>
              <a:rPr sz="1650" b="0" i="0">
                <a:solidFill>
                  <a:srgbClr val="20242B"/>
                </a:solidFill>
                <a:latin typeface="Calibri"/>
              </a:rPr>
              <a:t> to distill task information a fixed PCA direction simply cannot?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Same idea — one steering vector — but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trained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, so it can carry a richer task.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LIVE  ·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Distill demonstrations into a learned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Train a shift vector to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mimic the effect of demonstrations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no demos at inference.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Distillation objective: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match the model's output distribution with </a:t>
            </a:r>
            <a:r>
              <a:rPr sz="1600" b="0" i="1">
                <a:solidFill>
                  <a:srgbClr val="20242B"/>
                </a:solidFill>
                <a:latin typeface="Calibri"/>
              </a:rPr>
              <a:t>LIVE only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to its output with </a:t>
            </a:r>
            <a:r>
              <a:rPr sz="1600" b="0" i="1">
                <a:solidFill>
                  <a:srgbClr val="20242B"/>
                </a:solidFill>
                <a:latin typeface="Calibri"/>
              </a:rPr>
              <a:t>32-shot demos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Randomize the 32-shot demos per query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during training → the vector keeps the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task signal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and drops example-specific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32-shot demos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randomized per query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9252" y="450342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96996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0148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Match output dist.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LIVE vs demos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450342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27064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Learn vector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task signal 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19388" y="4503420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57132" y="4160520"/>
            <a:ext cx="2574036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0284" y="4160520"/>
            <a:ext cx="24277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Inference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add vector, no demos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21208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2120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PCA </a:t>
            </a:r>
            <a:r>
              <a:rPr sz="1400" b="0" i="1">
                <a:solidFill>
                  <a:srgbClr val="20242B"/>
                </a:solidFill>
                <a:latin typeface="Calibri"/>
              </a:rPr>
              <a:t>reads off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a direction; LIVE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optimizes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one to reproduce the demonstrations' effect.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LIVE  ·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Per-layer vectors, learned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A separate vector per layer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different layers play different roles, so each gets its own fine-grained shift.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Learnable magnitude α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the steering strength is </a:t>
            </a:r>
            <a:r>
              <a:rPr sz="1700" b="0" i="1">
                <a:solidFill>
                  <a:srgbClr val="20242B"/>
                </a:solidFill>
                <a:latin typeface="Calibri"/>
              </a:rPr>
              <a:t>trained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, not hand-tuned.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Only the vectors are trained; the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backbone stays frozen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still lightweight.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More expressive than a single global PCA direction, while keeping the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frozen-model, add-a-vector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recipe.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A73E8"/>
                </a:solidFill>
                <a:latin typeface="Calibri"/>
              </a:rPr>
              <a:t>LIVE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Big efficiency, better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~25× fewer FLOPs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than 32-shot ICL at matched accuracy (≈ 1/24.97).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+2.36 / +1.6 accuracy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on VQAv2 / OKVQA over 32-shot ICL.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Far more sample-efficient than LoRA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~500 vs ~8000 training samples for comparable trainable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Learning the vector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rescues steering on hard, heterogeneous tasks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that broke non-learnable ICVs.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10A"/>
                </a:solidFill>
                <a:latin typeface="Calibri"/>
              </a:rPr>
              <a:t>LIVE  ·  SHORTCOMINGS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Still global, still always-on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One learned vector per task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better than PCA, but still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not query-conditional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: every input gets the same shift.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Needs an offline training loop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with labeled demos;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adding a new skill means retraining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▶  No sense of *when* to steer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 — the shift is always applied, even on inputs where it could </a:t>
            </a:r>
            <a:r>
              <a:rPr sz="1700" b="1" i="0">
                <a:solidFill>
                  <a:srgbClr val="1A73E8"/>
                </a:solidFill>
                <a:latin typeface="Calibri"/>
              </a:rPr>
              <a:t>flip a correct answer to wrong</a:t>
            </a:r>
            <a:r>
              <a:rPr sz="17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8710A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We made the vector smarter — but it's still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one-size-fits-all and unconditionally on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29D8E"/>
                </a:solidFill>
                <a:latin typeface="Calibri"/>
              </a:rPr>
              <a:t>ACROSS ALL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The thread — and what's still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486400" cy="3383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1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29D8E"/>
                </a:solidFill>
                <a:latin typeface="Calibri"/>
              </a:rPr>
              <a:t>What got better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✓  GPT-3 → task signal lives in the activations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✓  ICV → extract it into one explicit, tunable vector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✓  LIVE → learn that vector for rich, hard tasks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✓  Cost fell; control rose.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783080"/>
            <a:ext cx="5303520" cy="3383280"/>
          </a:xfrm>
          <a:prstGeom prst="roundRect">
            <a:avLst/>
          </a:prstGeom>
          <a:solidFill>
            <a:srgbClr val="FDEFE3"/>
          </a:solidFill>
          <a:ln w="12700">
            <a:solidFill>
              <a:srgbClr val="E87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E8710A"/>
                </a:solidFill>
                <a:latin typeface="Calibri"/>
              </a:rPr>
              <a:t>What stayed the same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•  The vector is global — one shift for all queries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•  Steering is always on — no notion of when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•  Adding a skill needs (re)training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20242B"/>
                </a:solidFill>
                <a:latin typeface="Calibri"/>
              </a:rPr>
              <a:t>•  Steering can silently harm some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29D8E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What if steering were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retrieved per query, composed, and gated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to avoid harm?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554480" cy="508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29D8E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Open Questions &amp; a Possible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>
                <a:solidFill>
                  <a:srgbClr val="BFD0EA"/>
                </a:solidFill>
                <a:latin typeface="Calibri"/>
              </a:rPr>
              <a:t>Framing a problem statement — avenues to explore, not committed answers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29D8E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Open questions worth posing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Can the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prompt itself act as a router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— signalling </a:t>
            </a:r>
            <a:r>
              <a:rPr sz="1550" b="0" i="1">
                <a:solidFill>
                  <a:srgbClr val="20242B"/>
                </a:solidFill>
                <a:latin typeface="Calibri"/>
              </a:rPr>
              <a:t>which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steering vector to use? (a math query pulls a math vector)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Can we keep a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bank of skill vectors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and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retrieve-then-steer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per query, instead of one global average?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Can steering be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query-conditional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</a:t>
            </a:r>
            <a:r>
              <a:rPr sz="1550" b="0" i="1">
                <a:solidFill>
                  <a:srgbClr val="20242B"/>
                </a:solidFill>
                <a:latin typeface="Calibri"/>
              </a:rPr>
              <a:t>without retraining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to add a new skill?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Can we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steer only when it's safe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, and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abstain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otherwise?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Can we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bound the harm rate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— the chance steering flips a correct answer to wrong — at a chosen level?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Is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heterogeneity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(a mix of query types) the regime where a single global vector </a:t>
            </a:r>
            <a:r>
              <a:rPr sz="1550" b="0" i="1">
                <a:solidFill>
                  <a:srgbClr val="20242B"/>
                </a:solidFill>
                <a:latin typeface="Calibri"/>
              </a:rPr>
              <a:t>must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fail?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How do we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compose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 several skill vectors </a:t>
            </a:r>
            <a:r>
              <a:rPr sz="1550" b="1" i="0">
                <a:solidFill>
                  <a:srgbClr val="1A73E8"/>
                </a:solidFill>
                <a:latin typeface="Calibri"/>
              </a:rPr>
              <a:t>without interference</a:t>
            </a:r>
            <a:r>
              <a:rPr sz="1550" b="0" i="0">
                <a:solidFill>
                  <a:srgbClr val="20242B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82296" cy="77724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57150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29D8E"/>
                </a:solidFill>
                <a:latin typeface="Calibri"/>
              </a:rPr>
              <a:t>Takeaway   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Analogy to test: RAG decouples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knowledge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from weights — can steering decouple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skills</a:t>
            </a:r>
            <a:r>
              <a:rPr sz="1400" b="0" i="0">
                <a:solidFill>
                  <a:srgbClr val="20242B"/>
                </a:solidFill>
                <a:latin typeface="Calibri"/>
              </a:rPr>
              <a:t> from weights?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29D8E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A possible direction (a sketch, not a commitment)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972800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Retrieval-Augmented Steering (RAS)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frame steering as </a:t>
            </a:r>
            <a:r>
              <a:rPr sz="1600" b="0" i="1">
                <a:solidFill>
                  <a:srgbClr val="20242B"/>
                </a:solidFill>
                <a:latin typeface="Calibri"/>
              </a:rPr>
              <a:t>routing + abstention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, by analogy to RAG.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Build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 an open-domain bank of skill vectors offline (cluster demos → one vector per skill).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F6670"/>
                </a:solidFill>
                <a:latin typeface="Calibri"/>
              </a:rPr>
              <a:t>     – 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Retrieve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 the nearest skill vector(s) for each query →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compose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 → </a:t>
            </a:r>
            <a:r>
              <a:rPr sz="1400" b="1" i="0">
                <a:solidFill>
                  <a:srgbClr val="1A73E8"/>
                </a:solidFill>
                <a:latin typeface="Calibri"/>
              </a:rPr>
              <a:t>steer-or-abstain</a:t>
            </a:r>
            <a:r>
              <a:rPr sz="1400" b="0" i="0">
                <a:solidFill>
                  <a:srgbClr val="5F6670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Near-zero cost: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one query embedding + a lookup + a vector add. New skill = new bank entry,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no retraining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▶  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Headline question to probe: a </a:t>
            </a:r>
            <a:r>
              <a:rPr sz="1600" b="1" i="0">
                <a:solidFill>
                  <a:srgbClr val="1A73E8"/>
                </a:solidFill>
                <a:latin typeface="Calibri"/>
              </a:rPr>
              <a:t>risk–coverage frontier</a:t>
            </a:r>
            <a:r>
              <a:rPr sz="1600" b="0" i="0">
                <a:solidFill>
                  <a:srgbClr val="20242B"/>
                </a:solidFill>
                <a:latin typeface="Calibri"/>
              </a:rPr>
              <a:t> — </a:t>
            </a:r>
            <a:r>
              <a:rPr sz="1600" b="0" i="1">
                <a:solidFill>
                  <a:srgbClr val="20242B"/>
                </a:solidFill>
                <a:latin typeface="Calibri"/>
              </a:rPr>
              <a:t>how much gain at a guaranteed harm rate?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00600"/>
            <a:ext cx="2008022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2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86171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Query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embed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93238" y="5143500"/>
            <a:ext cx="219456" cy="182880"/>
          </a:xfrm>
          <a:prstGeom prst="rightArrow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0982" y="4800600"/>
            <a:ext cx="2008022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2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4134" y="4800600"/>
            <a:ext cx="186171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Retrieve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nearest skill vec(s)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7292" y="5143500"/>
            <a:ext cx="219456" cy="182880"/>
          </a:xfrm>
          <a:prstGeom prst="rightArrow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95036" y="4800600"/>
            <a:ext cx="2008022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2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8188" y="4800600"/>
            <a:ext cx="186171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Compose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top-k, small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21346" y="5143500"/>
            <a:ext cx="219456" cy="182880"/>
          </a:xfrm>
          <a:prstGeom prst="rightArrow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59090" y="4800600"/>
            <a:ext cx="2008022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2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32242" y="4800600"/>
            <a:ext cx="186171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Gate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steer or abstain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85400" y="5143500"/>
            <a:ext cx="219456" cy="182880"/>
          </a:xfrm>
          <a:prstGeom prst="rightArrow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23144" y="4800600"/>
            <a:ext cx="2008022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12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6296" y="4800600"/>
            <a:ext cx="186171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2B4A"/>
                </a:solidFill>
                <a:latin typeface="Calibri"/>
              </a:rPr>
              <a:t>Steer</a:t>
            </a:r>
          </a:p>
          <a:p>
            <a:pPr algn="ctr"/>
            <a:r>
              <a:rPr sz="950" b="0" i="0">
                <a:solidFill>
                  <a:srgbClr val="5F6670"/>
                </a:solidFill>
                <a:latin typeface="Calibri"/>
              </a:rPr>
              <a:t>add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1">
                <a:solidFill>
                  <a:srgbClr val="5F6670"/>
                </a:solidFill>
                <a:latin typeface="Calibri"/>
              </a:rPr>
              <a:t>Posed as open avenues — start from the simplest defensible choice in each block and ablate upward.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29D8E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A2B4A"/>
                </a:solidFill>
                <a:latin typeface="Calibri"/>
              </a:rPr>
              <a:t>Reading list the direction builds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4160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1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920240"/>
            <a:ext cx="315468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1A73E8"/>
                </a:solidFill>
                <a:latin typeface="Calibri"/>
              </a:rPr>
              <a:t>Closest works (conditional steering)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K-CAST — kNN-conditional steering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CAST — conditional activation steering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HyperSteer — generate vectors via hypernet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Steer2Adapt — compose a fixed basis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PDS — prototype-based dynamic steering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783080"/>
            <a:ext cx="3520440" cy="4160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1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1920240"/>
            <a:ext cx="315468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129D8E"/>
                </a:solidFill>
                <a:latin typeface="Calibri"/>
              </a:rPr>
              <a:t>Primitives we build on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CAA — mean-difference steering vector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ICV — PCA of h(y) − h(x)  (Paper 2)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LIVE — learned ICV for VQA  (Paper 3)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SADI — semantics-adaptive intervention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Composition — MAT-Steer, K-Steering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783080"/>
            <a:ext cx="3520440" cy="4160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1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1" y="1920240"/>
            <a:ext cx="315468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E8710A"/>
                </a:solidFill>
                <a:latin typeface="Calibri"/>
              </a:rPr>
              <a:t>No-harm / selective prediction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Conformal Abstention for LLMs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Conformal Risk Control for LLMs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'Entropy alone is insufficient' for gating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Steering Externalities — benign steering risk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0" i="0">
                <a:solidFill>
                  <a:srgbClr val="20242B"/>
                </a:solidFill>
                <a:latin typeface="Calibri"/>
              </a:rPr>
              <a:t>•  Positioning: RAG-analogs — LoRA-Retriever, EPR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80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1">
                <a:solidFill>
                  <a:srgbClr val="5F6670"/>
                </a:solidFill>
                <a:latin typeface="Calibri"/>
              </a:rPr>
              <a:t>Verify each exact reference/venue before depending on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554480" cy="50800"/>
          </a:xfrm>
          <a:prstGeom prst="rect">
            <a:avLst/>
          </a:prstGeom>
          <a:solidFill>
            <a:srgbClr val="12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Where we'd like the discussion to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50" b="0" i="0">
                <a:solidFill>
                  <a:srgbClr val="CFDDF2"/>
                </a:solidFill>
                <a:latin typeface="Calibri"/>
              </a:rPr>
              <a:t>—  The task signal moved from the prompt → into one vector → into a learned vector.</a:t>
            </a:r>
          </a:p>
          <a:p>
            <a:pPr>
              <a:spcAft>
                <a:spcPts val="1200"/>
              </a:spcAft>
            </a:pPr>
            <a:r>
              <a:rPr sz="1650" b="0" i="0">
                <a:solidFill>
                  <a:srgbClr val="CFDDF2"/>
                </a:solidFill>
                <a:latin typeface="Calibri"/>
              </a:rPr>
              <a:t>—  It is still global and always-on. The open wedge: retrieve, compose, and gate it.</a:t>
            </a:r>
          </a:p>
          <a:p>
            <a:pPr>
              <a:spcAft>
                <a:spcPts val="1200"/>
              </a:spcAft>
            </a:pPr>
            <a:r>
              <a:rPr sz="1650" b="0" i="0">
                <a:solidFill>
                  <a:srgbClr val="CFDDF2"/>
                </a:solidFill>
                <a:latin typeface="Calibri"/>
              </a:rPr>
              <a:t>—  Goal of today: pressure-test whether 'retrieve-then-steer, safely' is a problem worth owning.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2453</Words>
  <Application>Microsoft Office PowerPoint</Application>
  <PresentationFormat>Widescreen</PresentationFormat>
  <Paragraphs>226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Pratyay Dutta</cp:lastModifiedBy>
  <cp:revision>1</cp:revision>
  <dcterms:created xsi:type="dcterms:W3CDTF">2013-01-27T09:14:16Z</dcterms:created>
  <dcterms:modified xsi:type="dcterms:W3CDTF">2026-06-25T16:12:03Z</dcterms:modified>
  <cp:category/>
</cp:coreProperties>
</file>